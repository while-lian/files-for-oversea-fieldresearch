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8"/>
  </p:handoutMasterIdLst>
  <p:sldIdLst>
    <p:sldId id="311" r:id="rId3"/>
    <p:sldId id="277" r:id="rId4"/>
    <p:sldId id="301" r:id="rId5"/>
    <p:sldId id="305" r:id="rId7"/>
    <p:sldId id="302" r:id="rId8"/>
    <p:sldId id="303" r:id="rId9"/>
    <p:sldId id="304" r:id="rId10"/>
    <p:sldId id="313" r:id="rId11"/>
    <p:sldId id="307" r:id="rId12"/>
    <p:sldId id="308" r:id="rId13"/>
    <p:sldId id="309" r:id="rId14"/>
    <p:sldId id="310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立项（教师）" id="{5d04bb51-5aa5-48eb-a912-237479090508}">
          <p14:sldIdLst>
            <p14:sldId id="311"/>
            <p14:sldId id="277"/>
            <p14:sldId id="301"/>
            <p14:sldId id="305"/>
            <p14:sldId id="302"/>
            <p14:sldId id="303"/>
            <p14:sldId id="304"/>
          </p14:sldIdLst>
        </p14:section>
        <p14:section name="立项（支队）" id="{b82966c4-2e85-4791-9e9d-1cdb59396cad}">
          <p14:sldIdLst>
            <p14:sldId id="313"/>
            <p14:sldId id="307"/>
            <p14:sldId id="308"/>
            <p14:sldId id="309"/>
            <p14:sldId id="310"/>
            <p14:sldId id="314"/>
          </p14:sldIdLst>
        </p14:section>
        <p14:section name="团组审批" id="{91d64483-5e8a-40a2-85c2-51716321977e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rryuh@163.com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E2B7BE"/>
    <a:srgbClr val="E6E9F2"/>
    <a:srgbClr val="B09CB9"/>
    <a:srgbClr val="BDA4BF"/>
    <a:srgbClr val="546CA8"/>
    <a:srgbClr val="D1F3FF"/>
    <a:srgbClr val="D1D6E7"/>
    <a:srgbClr val="95A1C7"/>
    <a:srgbClr val="B0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0696" autoAdjust="0"/>
  </p:normalViewPr>
  <p:slideViewPr>
    <p:cSldViewPr snapToGrid="0">
      <p:cViewPr varScale="1">
        <p:scale>
          <a:sx n="60" d="100"/>
          <a:sy n="60" d="100"/>
        </p:scale>
        <p:origin x="87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430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8:41:01.199" idx="4">
    <p:pos x="7347" y="1237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8:41:01.199" idx="4">
    <p:pos x="7347" y="1237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63D-1130-4568-9BC8-50B73A32A5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E72DA-5737-4848-99B8-514F8F6293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94" name="Shape 2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1pPr>
    <a:lvl2pPr indent="1143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2pPr>
    <a:lvl3pPr indent="2286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3pPr>
    <a:lvl4pPr indent="3429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4pPr>
    <a:lvl5pPr indent="4572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5pPr>
    <a:lvl6pPr indent="5715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6pPr>
    <a:lvl7pPr indent="6858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7pPr>
    <a:lvl8pPr indent="8001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8pPr>
    <a:lvl9pPr indent="914400" defTabSz="228600" latinLnBrk="0">
      <a:lnSpc>
        <a:spcPct val="118000"/>
      </a:lnSpc>
      <a:defRPr sz="11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2"/>
          <p:cNvSpPr>
            <a:spLocks noGrp="1"/>
          </p:cNvSpPr>
          <p:nvPr>
            <p:ph type="title"/>
          </p:nvPr>
        </p:nvSpPr>
        <p:spPr>
          <a:xfrm>
            <a:off x="710350" y="1688447"/>
            <a:ext cx="10771300" cy="2244436"/>
          </a:xfrm>
          <a:prstGeom prst="rect">
            <a:avLst/>
          </a:prstGeom>
        </p:spPr>
        <p:txBody>
          <a:bodyPr anchor="b" anchorCtr="0"/>
          <a:lstStyle>
            <a:lvl1pPr marL="0" algn="ctr" defTabSz="228600" rtl="0" eaLnBrk="1" latinLnBrk="0" hangingPunct="1">
              <a:lnSpc>
                <a:spcPct val="120000"/>
              </a:lnSpc>
              <a:defRPr lang="zh-CN" altLang="en-US" sz="5400" b="1" kern="1200" dirty="0">
                <a:ln w="12700">
                  <a:solidFill>
                    <a:schemeClr val="accent4"/>
                  </a:solidFill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方正小标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710350" y="4654731"/>
            <a:ext cx="10771300" cy="12606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>
                <a:ln>
                  <a:solidFill>
                    <a:srgbClr val="95A1C7"/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Times New Roman" panose="02020503050405090304" pitchFamily="18" charset="0"/>
              </a:defRPr>
            </a:lvl1pPr>
          </a:lstStyle>
          <a:p>
            <a:pPr lvl="0"/>
            <a:r>
              <a:rPr lang="zh-CN" altLang="en-US" dirty="0"/>
              <a:t>单击此处添加其他信息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181" y="401060"/>
            <a:ext cx="2428875" cy="80962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94917" y="2498247"/>
            <a:ext cx="7365402" cy="1962625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ct val="120000"/>
              </a:lnSpc>
              <a:defRPr lang="zh-CN" altLang="en-US" sz="3600" b="1" dirty="0">
                <a:ln w="12700">
                  <a:solidFill>
                    <a:schemeClr val="accent4"/>
                  </a:solidFill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cs typeface="方正小标宋简体" panose="02000000000000000000" pitchFamily="2" charset="-122"/>
              </a:defRPr>
            </a:lvl1pPr>
          </a:lstStyle>
          <a:p>
            <a:pPr marL="0" lvl="0" indent="0" algn="r" defTabSz="228600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181" y="401060"/>
            <a:ext cx="2428875" cy="80962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直接连接符 8"/>
          <p:cNvCxnSpPr/>
          <p:nvPr userDrawn="1"/>
        </p:nvCxnSpPr>
        <p:spPr>
          <a:xfrm>
            <a:off x="2811175" y="2544990"/>
            <a:ext cx="0" cy="1886857"/>
          </a:xfrm>
          <a:prstGeom prst="line">
            <a:avLst/>
          </a:prstGeom>
          <a:ln w="57150" cap="rnd">
            <a:solidFill>
              <a:schemeClr val="accent6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81" y="2600287"/>
            <a:ext cx="691346" cy="1758544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 descr="图片 8"/>
          <p:cNvPicPr>
            <a:picLocks noChangeAspect="1"/>
          </p:cNvPicPr>
          <p:nvPr userDrawn="1"/>
        </p:nvPicPr>
        <p:blipFill>
          <a:blip r:embed="rId2"/>
          <a:srcRect l="928" r="1232" b="2775"/>
          <a:stretch>
            <a:fillRect/>
          </a:stretch>
        </p:blipFill>
        <p:spPr>
          <a:xfrm>
            <a:off x="-20241" y="-13847"/>
            <a:ext cx="12232468" cy="68857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文本占位符 32"/>
          <p:cNvSpPr>
            <a:spLocks noGrp="1"/>
          </p:cNvSpPr>
          <p:nvPr>
            <p:ph type="body" sz="quarter" idx="10"/>
          </p:nvPr>
        </p:nvSpPr>
        <p:spPr>
          <a:xfrm>
            <a:off x="877998" y="1306286"/>
            <a:ext cx="10436004" cy="4878472"/>
          </a:xfrm>
          <a:prstGeom prst="rect">
            <a:avLst/>
          </a:prstGeom>
        </p:spPr>
        <p:txBody>
          <a:bodyPr/>
          <a:lstStyle>
            <a:lvl1pPr marL="447675" indent="-447675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tabLst>
                <a:tab pos="720725" algn="l"/>
              </a:tabLst>
              <a:defRPr sz="2000" b="1" spc="0" baseline="0"/>
            </a:lvl1pPr>
            <a:lvl2pPr marL="898525" indent="-441325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 sz="1800" spc="0" baseline="0"/>
            </a:lvl2pPr>
            <a:lvl3pPr marL="1344930" indent="-430530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tabLst>
                <a:tab pos="1524000" algn="l"/>
              </a:tabLst>
              <a:defRPr sz="1600" spc="0" baseline="0"/>
            </a:lvl3pPr>
            <a:lvl4pPr marL="1701800" indent="-330200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 sz="1400" spc="0" baseline="0"/>
            </a:lvl4pPr>
            <a:lvl5pPr marL="2152650" indent="-323850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p"/>
              <a:defRPr sz="1400" spc="0"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 30"/>
          <p:cNvSpPr>
            <a:spLocks noGrp="1"/>
          </p:cNvSpPr>
          <p:nvPr>
            <p:ph type="title"/>
          </p:nvPr>
        </p:nvSpPr>
        <p:spPr>
          <a:xfrm>
            <a:off x="1219200" y="606876"/>
            <a:ext cx="9745399" cy="557170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300375" y="6082606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9AF1EDA-606A-4FEC-B4AD-D3D7E16C1FC8}" type="slidenum">
              <a:rPr lang="zh-CN" altLang="en-US" sz="1400" b="1" smtClean="0">
                <a:solidFill>
                  <a:srgbClr val="4A6C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fld>
            <a:endParaRPr lang="zh-CN" altLang="en-US" sz="1400" b="1" dirty="0">
              <a:solidFill>
                <a:srgbClr val="4A6CA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45" y="606875"/>
            <a:ext cx="557170" cy="5571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79" y="503788"/>
            <a:ext cx="795802" cy="8393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8" descr="图片 8"/>
          <p:cNvPicPr>
            <a:picLocks noChangeAspect="1"/>
          </p:cNvPicPr>
          <p:nvPr userDrawn="1"/>
        </p:nvPicPr>
        <p:blipFill>
          <a:blip r:embed="rId2"/>
          <a:srcRect l="928" r="1232" b="2775"/>
          <a:stretch>
            <a:fillRect/>
          </a:stretch>
        </p:blipFill>
        <p:spPr>
          <a:xfrm>
            <a:off x="-20241" y="-13847"/>
            <a:ext cx="12232468" cy="68857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文本框 9"/>
          <p:cNvSpPr txBox="1"/>
          <p:nvPr userDrawn="1"/>
        </p:nvSpPr>
        <p:spPr>
          <a:xfrm>
            <a:off x="11300375" y="6082606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9AF1EDA-606A-4FEC-B4AD-D3D7E16C1FC8}" type="slidenum">
              <a:rPr lang="zh-CN" altLang="en-US" sz="1400" b="1" smtClean="0">
                <a:solidFill>
                  <a:srgbClr val="4A6C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fld>
            <a:endParaRPr lang="zh-CN" altLang="en-US" sz="1400" b="1" dirty="0">
              <a:solidFill>
                <a:srgbClr val="4A6CA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标题 30"/>
          <p:cNvSpPr>
            <a:spLocks noGrp="1"/>
          </p:cNvSpPr>
          <p:nvPr>
            <p:ph type="title"/>
          </p:nvPr>
        </p:nvSpPr>
        <p:spPr>
          <a:xfrm>
            <a:off x="1219200" y="606876"/>
            <a:ext cx="9745399" cy="557170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45" y="606875"/>
            <a:ext cx="557170" cy="5571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79" y="503788"/>
            <a:ext cx="795802" cy="8393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8" descr="图片 8"/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rcRect l="928" r="1232" b="2775"/>
          <a:stretch>
            <a:fillRect/>
          </a:stretch>
        </p:blipFill>
        <p:spPr>
          <a:xfrm>
            <a:off x="-20241" y="-13847"/>
            <a:ext cx="12232468" cy="68857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7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30000">
              <a:schemeClr val="accent2">
                <a:lumMod val="60000"/>
                <a:lumOff val="40000"/>
              </a:schemeClr>
            </a:gs>
            <a:gs pos="70000">
              <a:srgbClr val="6586BC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6">
            <a:alphaModFix amt="3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" b="628"/>
          <a:stretch>
            <a:fillRect/>
          </a:stretch>
        </p:blipFill>
        <p:spPr>
          <a:xfrm>
            <a:off x="778021" y="0"/>
            <a:ext cx="10635958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info2021.tsinghua.edu.cn/f/info/xxfb_fg/xnzx/template/detail?xxid=beab223c91794a308fd1d2898ec5b922" TargetMode="Externa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2.xml"/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10565" y="1314450"/>
            <a:ext cx="11030585" cy="4956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1、</a:t>
            </a:r>
            <a:r>
              <a:rPr lang="zh-CN" altLang="en-US">
                <a:solidFill>
                  <a:schemeClr val="tx1"/>
                </a:solidFill>
              </a:rPr>
              <a:t>带队老师因公护照</a:t>
            </a:r>
            <a:r>
              <a:rPr lang="en-US" altLang="zh-CN">
                <a:solidFill>
                  <a:schemeClr val="tx1"/>
                </a:solidFill>
              </a:rPr>
              <a:t>（</a:t>
            </a:r>
            <a:r>
              <a:rPr lang="zh-CN" altLang="en-US">
                <a:solidFill>
                  <a:schemeClr val="tx1"/>
                </a:solidFill>
              </a:rPr>
              <a:t>特殊情况一事一议</a:t>
            </a:r>
            <a:r>
              <a:rPr lang="en-US" altLang="zh-CN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2、</a:t>
            </a:r>
            <a:r>
              <a:rPr lang="zh-CN" altLang="en-US">
                <a:solidFill>
                  <a:schemeClr val="tx1"/>
                </a:solidFill>
              </a:rPr>
              <a:t>每个城市至少一封</a:t>
            </a:r>
            <a:r>
              <a:rPr lang="zh-CN" altLang="en-US">
                <a:solidFill>
                  <a:schemeClr val="tx1"/>
                </a:solidFill>
              </a:rPr>
              <a:t>邀请函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350" y="2168337"/>
            <a:ext cx="10771300" cy="1260663"/>
          </a:xfrm>
        </p:spPr>
        <p:txBody>
          <a:bodyPr/>
          <a:lstStyle/>
          <a:p>
            <a:r>
              <a:rPr lang="zh-CN" altLang="en-US" sz="4800" dirty="0"/>
              <a:t>外事管理系统立项操作指南</a:t>
            </a:r>
            <a:br>
              <a:rPr lang="en-US" altLang="zh-CN" sz="4800" dirty="0"/>
            </a:br>
            <a:r>
              <a:rPr lang="en-US" altLang="zh-CN" sz="2800" dirty="0"/>
              <a:t>——</a:t>
            </a:r>
            <a:r>
              <a:rPr lang="zh-CN" altLang="en-US" sz="2800" dirty="0"/>
              <a:t>面向在校团委立项的海外实践支队指导教师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710350" y="4863737"/>
            <a:ext cx="10771300" cy="1260663"/>
          </a:xfrm>
        </p:spPr>
        <p:txBody>
          <a:bodyPr/>
          <a:lstStyle/>
          <a:p>
            <a:r>
              <a:rPr lang="zh-CN" altLang="en-US" sz="3200" dirty="0"/>
              <a:t>校团委学习实践部</a:t>
            </a:r>
            <a:endParaRPr lang="en-US" altLang="zh-CN" sz="3200" dirty="0"/>
          </a:p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30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前往在线服务系统</a:t>
            </a:r>
            <a:r>
              <a:rPr lang="en-US" altLang="zh-CN" dirty="0"/>
              <a:t>-</a:t>
            </a:r>
            <a:r>
              <a:rPr lang="zh-CN" altLang="en-US" dirty="0"/>
              <a:t>教职工因公出国（境）计划报备完成报备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164046"/>
            <a:ext cx="10609941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580669"/>
            <a:ext cx="5583195" cy="369666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45458" y="2187217"/>
            <a:ext cx="4162204" cy="2830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国际处已于</a:t>
            </a:r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2024</a:t>
            </a: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</a:t>
            </a:r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月</a:t>
            </a:r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7</a:t>
            </a: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号更新教职工因公出国（境）任务申请相关要求，可参见：</a:t>
            </a:r>
            <a:r>
              <a:rPr kumimoji="1" lang="en-GB" altLang="zh-CN" dirty="0">
                <a:latin typeface="Times New Roman" panose="02020503050405090304" pitchFamily="18" charset="0"/>
                <a:cs typeface="Times New Roman" panose="02020503050405090304" pitchFamily="18" charset="0"/>
                <a:hlinkClick r:id="rId2"/>
              </a:rPr>
              <a:t>https://info2021.tsinghua.edu.cn/f/info/xxfb_fg/xnzx/template/detail?xxid=beab223c91794a308fd1d2898ec5b922</a:t>
            </a:r>
            <a:endParaRPr kumimoji="1" lang="en-GB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</a:pPr>
            <a:endParaRPr kumimoji="1" lang="en-GB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GB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具体可咨询</a:t>
            </a: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派出工作办公室：</a:t>
            </a:r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62780795</a:t>
            </a:r>
            <a:endParaRPr kumimoji="1"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前往在线服务系统</a:t>
            </a:r>
            <a:r>
              <a:rPr lang="en-US" altLang="zh-CN" dirty="0"/>
              <a:t>-</a:t>
            </a:r>
            <a:r>
              <a:rPr lang="zh-CN" altLang="en-US" dirty="0"/>
              <a:t>教职工因公出国（境）计划报备完成报备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164046"/>
            <a:ext cx="10609941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45458" y="3225962"/>
            <a:ext cx="4162204" cy="40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出国（境）任务性质：学生团带队</a:t>
            </a:r>
            <a:endParaRPr kumimoji="1"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338" y="1761019"/>
            <a:ext cx="6061120" cy="33359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前往在线服务系统</a:t>
            </a:r>
            <a:r>
              <a:rPr lang="en-US" altLang="zh-CN" dirty="0"/>
              <a:t>-</a:t>
            </a:r>
            <a:r>
              <a:rPr lang="zh-CN" altLang="en-US" dirty="0"/>
              <a:t>教职工因公出国（境）任务申请完成申请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164046"/>
            <a:ext cx="10609941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91111" y="3259723"/>
            <a:ext cx="235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结合教师实际情况填写</a:t>
            </a:r>
            <a:endParaRPr kumimoji="1" lang="zh-CN" altLang="en-US" sz="1600" dirty="0">
              <a:solidFill>
                <a:srgbClr val="7030A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99" y="1404074"/>
            <a:ext cx="7772400" cy="4049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前往在线服务系统</a:t>
            </a:r>
            <a:r>
              <a:rPr lang="en-US" altLang="zh-CN" dirty="0"/>
              <a:t>-</a:t>
            </a:r>
            <a:r>
              <a:rPr lang="zh-CN" altLang="en-US" dirty="0"/>
              <a:t>教职工因公出国（境）任务申请完成申请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484095" y="1164046"/>
            <a:ext cx="10966632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13919" y="1653945"/>
            <a:ext cx="2917325" cy="329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kumimoji="1" lang="zh-CN" altLang="en-US" sz="1400" dirty="0"/>
              <a:t>费用来源部分：</a:t>
            </a:r>
            <a:endParaRPr kumimoji="1" lang="en-US" altLang="zh-CN" sz="1400" dirty="0"/>
          </a:p>
          <a:p>
            <a:pPr marL="800100" lvl="1" indent="-342900">
              <a:lnSpc>
                <a:spcPct val="125000"/>
              </a:lnSpc>
              <a:buFont typeface="+mj-ea"/>
              <a:buAutoNum type="circleNumDbPlain"/>
            </a:pPr>
            <a:r>
              <a:rPr kumimoji="1" lang="zh-CN" altLang="en-US" sz="1400" dirty="0"/>
              <a:t>如果有校内支持经费，且个人或者校外单位将共同承担费用，则选择“学校及校外单位共同支付”</a:t>
            </a:r>
            <a:endParaRPr kumimoji="1" lang="en-US" altLang="zh-CN" sz="1400" dirty="0"/>
          </a:p>
          <a:p>
            <a:pPr marL="800100" lvl="1" indent="-342900">
              <a:lnSpc>
                <a:spcPct val="125000"/>
              </a:lnSpc>
              <a:buFont typeface="+mj-ea"/>
              <a:buAutoNum type="circleNumDbPlain"/>
            </a:pPr>
            <a:r>
              <a:rPr kumimoji="1" lang="zh-CN" altLang="en-US" sz="1400" dirty="0">
                <a:highlight>
                  <a:srgbClr val="FFFF00"/>
                </a:highlight>
              </a:rPr>
              <a:t>如果有校内支持经费，且能全额覆盖花销，则选择“全部校内支付”</a:t>
            </a:r>
            <a:endParaRPr kumimoji="1" lang="en-US" altLang="zh-CN" sz="1400" dirty="0"/>
          </a:p>
          <a:p>
            <a:pPr marL="800100" lvl="1" indent="-342900">
              <a:lnSpc>
                <a:spcPct val="125000"/>
              </a:lnSpc>
              <a:buFont typeface="+mj-ea"/>
              <a:buAutoNum type="circleNumDbPlain"/>
            </a:pPr>
            <a:r>
              <a:rPr kumimoji="1" lang="zh-CN" altLang="en-US" sz="1400" dirty="0"/>
              <a:t>校团委经费名称：支持海外实践经费（行前评审</a:t>
            </a:r>
            <a:r>
              <a:rPr kumimoji="1" lang="en-US" altLang="zh-CN" sz="1400" dirty="0"/>
              <a:t>A</a:t>
            </a:r>
            <a:r>
              <a:rPr kumimoji="1" lang="zh-CN" altLang="en-US" sz="1400"/>
              <a:t>类支队有此经费支持）</a:t>
            </a:r>
            <a:endParaRPr kumimoji="1" lang="en-US" altLang="zh-CN" sz="1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807" y="1683795"/>
            <a:ext cx="7772400" cy="4047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前往在线服务系统</a:t>
            </a:r>
            <a:r>
              <a:rPr lang="en-US" altLang="zh-CN" dirty="0"/>
              <a:t>-</a:t>
            </a:r>
            <a:r>
              <a:rPr lang="zh-CN" altLang="en-US" dirty="0"/>
              <a:t>教职工因公出国（境）任务申请完成申请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164046"/>
            <a:ext cx="10609941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140866" y="3538308"/>
            <a:ext cx="235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根据教师实际情况填写</a:t>
            </a:r>
            <a:endParaRPr kumimoji="1" lang="zh-CN" altLang="en-US" sz="1600" dirty="0">
              <a:solidFill>
                <a:srgbClr val="7030A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721649"/>
            <a:ext cx="7772400" cy="3999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89125" y="1504315"/>
            <a:ext cx="8585835" cy="4664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1、</a:t>
            </a:r>
            <a:r>
              <a:rPr lang="zh-CN" altLang="en-US">
                <a:solidFill>
                  <a:schemeClr val="tx1"/>
                </a:solidFill>
              </a:rPr>
              <a:t>支队成员保险</a:t>
            </a:r>
            <a:r>
              <a:rPr lang="zh-CN" altLang="en-US">
                <a:solidFill>
                  <a:schemeClr val="tx1"/>
                </a:solidFill>
              </a:rPr>
              <a:t>购买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2、</a:t>
            </a:r>
            <a:r>
              <a:rPr lang="zh-CN" altLang="en-US">
                <a:solidFill>
                  <a:schemeClr val="tx1"/>
                </a:solidFill>
              </a:rPr>
              <a:t>支队成员行前培训完成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3、</a:t>
            </a:r>
            <a:r>
              <a:rPr lang="zh-CN" altLang="en-US">
                <a:solidFill>
                  <a:schemeClr val="tx1"/>
                </a:solidFill>
              </a:rPr>
              <a:t>用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立项老师</a:t>
            </a:r>
            <a:r>
              <a:rPr lang="zh-CN" altLang="en-US">
                <a:solidFill>
                  <a:schemeClr val="tx1"/>
                </a:solidFill>
              </a:rPr>
              <a:t>账号完成支队立项</a:t>
            </a:r>
            <a:r>
              <a:rPr lang="zh-CN" altLang="en-US">
                <a:solidFill>
                  <a:schemeClr val="tx1"/>
                </a:solidFill>
              </a:rPr>
              <a:t>申请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（</a:t>
            </a:r>
            <a:r>
              <a:rPr lang="zh-CN" altLang="en-US">
                <a:solidFill>
                  <a:schemeClr val="tx1"/>
                </a:solidFill>
              </a:rPr>
              <a:t>参考海外群</a:t>
            </a:r>
            <a:r>
              <a:rPr lang="zh-CN" altLang="en-US">
                <a:solidFill>
                  <a:schemeClr val="tx1"/>
                </a:solidFill>
              </a:rPr>
              <a:t>群聊“请问教师都是指带队教师么？还是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支队立项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需要通过学生组长老师账号登录呀？</a:t>
            </a:r>
            <a:r>
              <a:rPr lang="en-US" altLang="zh-CN">
                <a:solidFill>
                  <a:schemeClr val="tx1"/>
                </a:solidFill>
              </a:rPr>
              <a:t>——</a:t>
            </a:r>
            <a:r>
              <a:rPr lang="zh-CN" altLang="en-US">
                <a:solidFill>
                  <a:schemeClr val="tx1"/>
                </a:solidFill>
              </a:rPr>
              <a:t>立项的老师都可以”</a:t>
            </a:r>
            <a:r>
              <a:rPr lang="en-US" altLang="zh-CN">
                <a:solidFill>
                  <a:schemeClr val="tx1"/>
                </a:solidFill>
              </a:rPr>
              <a:t>）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350" y="2168337"/>
            <a:ext cx="10771300" cy="1260663"/>
          </a:xfrm>
        </p:spPr>
        <p:txBody>
          <a:bodyPr/>
          <a:lstStyle/>
          <a:p>
            <a:r>
              <a:rPr lang="zh-CN" altLang="en-US" sz="4800" dirty="0"/>
              <a:t>外事管理系统立项操作指南</a:t>
            </a:r>
            <a:br>
              <a:rPr lang="en-US" altLang="zh-CN" sz="4800" dirty="0"/>
            </a:br>
            <a:r>
              <a:rPr lang="en-US" altLang="zh-CN" sz="2800" dirty="0"/>
              <a:t>——</a:t>
            </a:r>
            <a:r>
              <a:rPr lang="zh-CN" altLang="en-US" sz="2800" dirty="0"/>
              <a:t>面向在校团委立项的海外实践支队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710350" y="4863737"/>
            <a:ext cx="10771300" cy="1260663"/>
          </a:xfrm>
        </p:spPr>
        <p:txBody>
          <a:bodyPr/>
          <a:lstStyle/>
          <a:p>
            <a:r>
              <a:rPr lang="zh-CN" altLang="en-US" sz="3200" dirty="0"/>
              <a:t>校团委学习实践部</a:t>
            </a:r>
            <a:endParaRPr lang="en-US" altLang="zh-CN" sz="3200" dirty="0"/>
          </a:p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30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在外事管理系统完成立项审批，获取项目编号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651438"/>
            <a:ext cx="10609941" cy="4599686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699" y="1672490"/>
            <a:ext cx="7772400" cy="17565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19200" y="3429000"/>
            <a:ext cx="9745399" cy="2999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B09CB9"/>
                </a:solidFill>
              </a:rPr>
              <a:t>填写指南：</a:t>
            </a:r>
            <a:endParaRPr lang="en-US" altLang="zh-CN" dirty="0">
              <a:solidFill>
                <a:srgbClr val="B09CB9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项目名称：填写支队名称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项目周期：</a:t>
            </a:r>
            <a:r>
              <a:rPr lang="en-US" altLang="zh-CN" dirty="0"/>
              <a:t> </a:t>
            </a:r>
            <a:r>
              <a:rPr lang="zh-CN" altLang="en-US" dirty="0"/>
              <a:t>开始年份与结束年份</a:t>
            </a:r>
            <a:r>
              <a:rPr lang="zh-CN" altLang="en-US" b="1" dirty="0">
                <a:solidFill>
                  <a:srgbClr val="7030A0"/>
                </a:solidFill>
              </a:rPr>
              <a:t>均填写 </a:t>
            </a:r>
            <a:r>
              <a:rPr lang="en-US" altLang="zh-CN" b="1" dirty="0">
                <a:solidFill>
                  <a:srgbClr val="7030A0"/>
                </a:solidFill>
              </a:rPr>
              <a:t>2025</a:t>
            </a:r>
            <a:endParaRPr lang="en-US" altLang="zh-CN" b="1" dirty="0">
              <a:solidFill>
                <a:srgbClr val="7030A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项目计划开始和截止日期：根据实际情况填写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是否选派带队老师：根据实际情况填写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项目负责人：需与</a:t>
            </a:r>
            <a:r>
              <a:rPr lang="zh-CN" altLang="en-US" b="1" dirty="0">
                <a:solidFill>
                  <a:srgbClr val="7030A0"/>
                </a:solidFill>
              </a:rPr>
              <a:t>主责单位</a:t>
            </a:r>
            <a:r>
              <a:rPr lang="zh-CN" altLang="en-US" dirty="0"/>
              <a:t>协商确认</a:t>
            </a:r>
            <a:r>
              <a:rPr lang="en-US" altLang="zh-CN" dirty="0"/>
              <a:t>——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</a:rPr>
              <a:t>樊傲然</a:t>
            </a:r>
            <a:r>
              <a:rPr lang="en-US" altLang="zh-CN" dirty="0">
                <a:highlight>
                  <a:srgbClr val="FFFF00"/>
                </a:highlight>
              </a:rPr>
              <a:t> </a:t>
            </a:r>
            <a:r>
              <a:rPr lang="zh-CN" altLang="en-US" dirty="0">
                <a:highlight>
                  <a:srgbClr val="FFFF00"/>
                </a:highlight>
              </a:rPr>
              <a:t>清华大学航天航空学院</a:t>
            </a:r>
            <a:r>
              <a:rPr lang="en-US" altLang="zh-CN" dirty="0">
                <a:highlight>
                  <a:srgbClr val="FFFF00"/>
                </a:highlight>
              </a:rPr>
              <a:t>/</a:t>
            </a:r>
            <a:r>
              <a:rPr lang="zh-CN" altLang="en-US" dirty="0">
                <a:highlight>
                  <a:srgbClr val="FFFF00"/>
                </a:highlight>
              </a:rPr>
              <a:t>行健书院，</a:t>
            </a:r>
            <a:r>
              <a:rPr lang="en-US" altLang="zh-CN" dirty="0">
                <a:highlight>
                  <a:srgbClr val="FFFF00"/>
                </a:highlight>
              </a:rPr>
              <a:t>18810456187</a:t>
            </a:r>
            <a:r>
              <a:rPr lang="zh-CN" altLang="en-US" dirty="0">
                <a:highlight>
                  <a:srgbClr val="FFFF00"/>
                </a:highlight>
              </a:rPr>
              <a:t>，</a:t>
            </a:r>
            <a:r>
              <a:rPr lang="en-US" altLang="zh-CN" dirty="0">
                <a:highlight>
                  <a:srgbClr val="FFFF00"/>
                </a:highlight>
              </a:rPr>
              <a:t>far2021@tsinghua.edu.cn</a:t>
            </a:r>
            <a:endParaRPr lang="en-US" altLang="zh-CN" dirty="0">
              <a:highlight>
                <a:srgbClr val="FFFF00"/>
              </a:highligh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9200" y="116404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须知：外事管理系统需使用教师账号登录使用</a:t>
            </a:r>
            <a:endParaRPr kumimoji="1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761" y="1210334"/>
            <a:ext cx="7287903" cy="230691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在外事管理系统完成立项审批，获取项目编号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164046"/>
            <a:ext cx="10609941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19199" y="3193386"/>
            <a:ext cx="9745399" cy="300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拟参加学生人数：根据实际情况填写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项目形式：线下项目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申请类别：如果没有与外方单位签署合作协议，则选</a:t>
            </a:r>
            <a:r>
              <a:rPr lang="zh-CN" altLang="en-US" sz="1600" dirty="0">
                <a:solidFill>
                  <a:srgbClr val="7030A0"/>
                </a:solidFill>
              </a:rPr>
              <a:t>“立项审批”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项目类别：</a:t>
            </a:r>
            <a:r>
              <a:rPr lang="zh-CN" altLang="en-US" sz="1600" b="1" dirty="0">
                <a:highlight>
                  <a:srgbClr val="FFFF00"/>
                </a:highlight>
              </a:rPr>
              <a:t>校团委主管支队选择</a:t>
            </a:r>
            <a:r>
              <a:rPr lang="zh-CN" altLang="en-US" sz="1600" b="1" dirty="0">
                <a:solidFill>
                  <a:srgbClr val="7030A0"/>
                </a:solidFill>
                <a:highlight>
                  <a:srgbClr val="FFFF00"/>
                </a:highlight>
              </a:rPr>
              <a:t>“海外实践实习项目（校团委）”</a:t>
            </a:r>
            <a:r>
              <a:rPr lang="zh-CN" altLang="en-US" sz="1600" b="1" dirty="0">
                <a:highlight>
                  <a:srgbClr val="FFFF00"/>
                </a:highlight>
              </a:rPr>
              <a:t> （行前答辩</a:t>
            </a:r>
            <a:r>
              <a:rPr lang="en-US" altLang="zh-CN" sz="1600" b="1" dirty="0">
                <a:highlight>
                  <a:srgbClr val="FFFF00"/>
                </a:highlight>
              </a:rPr>
              <a:t>A</a:t>
            </a:r>
            <a:r>
              <a:rPr lang="zh-CN" altLang="en-US" sz="1600" b="1" dirty="0">
                <a:highlight>
                  <a:srgbClr val="FFFF00"/>
                </a:highlight>
              </a:rPr>
              <a:t>等支队）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highlight>
                  <a:srgbClr val="FFFF00"/>
                </a:highlight>
              </a:rPr>
              <a:t>		       </a:t>
            </a:r>
            <a:r>
              <a:rPr lang="zh-CN" altLang="en-US" sz="1600" b="1" dirty="0">
                <a:highlight>
                  <a:srgbClr val="FFFF00"/>
                </a:highlight>
              </a:rPr>
              <a:t>院系主责并主管支队选择</a:t>
            </a:r>
            <a:r>
              <a:rPr lang="zh-CN" altLang="en-US" sz="1600" b="1" dirty="0">
                <a:solidFill>
                  <a:srgbClr val="7030A0"/>
                </a:solidFill>
                <a:highlight>
                  <a:srgbClr val="FFFF00"/>
                </a:highlight>
              </a:rPr>
              <a:t>“海外实践实习项目”</a:t>
            </a:r>
            <a:r>
              <a:rPr lang="zh-CN" altLang="en-US" sz="1600" b="1" dirty="0">
                <a:highlight>
                  <a:srgbClr val="FFFF00"/>
                </a:highlight>
              </a:rPr>
              <a:t> （行前答辩</a:t>
            </a:r>
            <a:r>
              <a:rPr lang="en-US" altLang="zh-CN" sz="1600" b="1" dirty="0">
                <a:highlight>
                  <a:srgbClr val="FFFF00"/>
                </a:highlight>
              </a:rPr>
              <a:t>B</a:t>
            </a:r>
            <a:r>
              <a:rPr lang="zh-CN" altLang="en-US" sz="1600" b="1">
                <a:highlight>
                  <a:srgbClr val="FFFF00"/>
                </a:highlight>
              </a:rPr>
              <a:t>等支队）</a:t>
            </a:r>
            <a:endParaRPr lang="en-US" altLang="zh-CN" sz="1600" b="1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是否有经费资助：选择“是”；经费资助来源：根据实际情况填写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经费资助单位：根据前期与主责单位的沟通情况填写，例如：校团委、</a:t>
            </a:r>
            <a:r>
              <a:rPr lang="en-US" altLang="zh-CN" sz="1600" dirty="0"/>
              <a:t>XX</a:t>
            </a:r>
            <a:r>
              <a:rPr lang="zh-CN" altLang="en-US" sz="1600" dirty="0"/>
              <a:t>学院（</a:t>
            </a:r>
            <a:r>
              <a:rPr lang="en-US" altLang="zh-CN" sz="1600" dirty="0"/>
              <a:t>XX</a:t>
            </a:r>
            <a:r>
              <a:rPr lang="zh-CN" altLang="en-US" sz="1600" dirty="0"/>
              <a:t>系、</a:t>
            </a:r>
            <a:r>
              <a:rPr lang="en-US" altLang="zh-CN" sz="1600" dirty="0"/>
              <a:t>XX</a:t>
            </a:r>
            <a:r>
              <a:rPr lang="zh-CN" altLang="en-US" sz="1600" dirty="0"/>
              <a:t>书院）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经费名称：本科生海外交流经费；是否与外方合作单位签署协议：根据实际情况填写</a:t>
            </a:r>
            <a:endParaRPr lang="en-US" altLang="zh-CN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9041355" y="1815725"/>
            <a:ext cx="23596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Tips</a:t>
            </a:r>
            <a:r>
              <a:rPr kumimoji="1" lang="zh-CN" altLang="en-US" sz="1600" dirty="0"/>
              <a:t>：请务必确认已给支队同学</a:t>
            </a:r>
            <a:r>
              <a:rPr kumimoji="1" lang="zh-CN" altLang="en-US" sz="1600" dirty="0">
                <a:solidFill>
                  <a:srgbClr val="7030A0"/>
                </a:solidFill>
              </a:rPr>
              <a:t>购买保险</a:t>
            </a:r>
            <a:r>
              <a:rPr kumimoji="1" lang="zh-CN" altLang="en-US" sz="1600" dirty="0"/>
              <a:t>且支队同学已完成</a:t>
            </a:r>
            <a:r>
              <a:rPr kumimoji="1" lang="zh-CN" altLang="en-US" sz="1600" dirty="0">
                <a:solidFill>
                  <a:srgbClr val="7030A0"/>
                </a:solidFill>
              </a:rPr>
              <a:t>清华大学因公出国（境）行前培训！</a:t>
            </a:r>
            <a:endParaRPr kumimoji="1" lang="zh-CN" altLang="en-US" sz="1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在外事管理系统完成立项审批，获取项目编号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840785" y="1164046"/>
            <a:ext cx="10609941" cy="5087078"/>
          </a:xfrm>
          <a:prstGeom prst="roundRect">
            <a:avLst/>
          </a:prstGeom>
          <a:noFill/>
          <a:ln w="38100">
            <a:solidFill>
              <a:srgbClr val="B09C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73055" y="4489008"/>
            <a:ext cx="9745399" cy="78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以上部分，涉及</a:t>
            </a:r>
            <a:r>
              <a:rPr lang="zh-CN" altLang="en-US" sz="1600" b="1" dirty="0">
                <a:solidFill>
                  <a:srgbClr val="7030A0"/>
                </a:solidFill>
              </a:rPr>
              <a:t>购买保险情况</a:t>
            </a:r>
            <a:r>
              <a:rPr lang="zh-CN" altLang="en-US" sz="1600" dirty="0"/>
              <a:t>和参加</a:t>
            </a:r>
            <a:r>
              <a:rPr lang="zh-CN" altLang="en-US" sz="1600" b="1" dirty="0">
                <a:solidFill>
                  <a:srgbClr val="7030A0"/>
                </a:solidFill>
              </a:rPr>
              <a:t>清华大学因公出国（境）行前培训情况</a:t>
            </a:r>
            <a:r>
              <a:rPr lang="zh-CN" altLang="en-US" sz="1600" dirty="0"/>
              <a:t>请在相应栏目里写明。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其余内容请结合实际情况填写。</a:t>
            </a:r>
            <a:endParaRPr lang="en-US" altLang="zh-CN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699" y="1429146"/>
            <a:ext cx="7772400" cy="3003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完成以上两步后</a:t>
            </a:r>
            <a:r>
              <a:rPr lang="en-US" altLang="zh-CN"/>
              <a:t>，</a:t>
            </a:r>
            <a:r>
              <a:rPr lang="zh-CN" altLang="en-US"/>
              <a:t>即可获得</a:t>
            </a:r>
            <a:r>
              <a:rPr lang="zh-CN" altLang="en-US"/>
              <a:t>项目编号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请认真阅读以下网址的教程，注意我们是【团组出访】，请大家在【立项完成后】立刻开始申请批件，所有操作均可在线上完成，如遇到某环节停滞不动，请及时致电相关负责人沟通情况。原则上需要【提前</a:t>
            </a:r>
            <a:r>
              <a:rPr lang="en-US" altLang="zh-CN"/>
              <a:t>20</a:t>
            </a:r>
            <a:r>
              <a:rPr lang="zh-CN" altLang="en-US"/>
              <a:t>个工作日】提交申请到国际处派出办，对于</a:t>
            </a:r>
            <a:r>
              <a:rPr lang="en-US" altLang="zh-CN"/>
              <a:t>7</a:t>
            </a:r>
            <a:r>
              <a:rPr lang="zh-CN" altLang="en-US"/>
              <a:t>月初出行的支队时间相当紧急，请大家重视此项工作！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第一步：组团单位通过</a:t>
            </a:r>
            <a:r>
              <a:rPr lang="en-US" altLang="zh-CN"/>
              <a:t>“</a:t>
            </a:r>
            <a:r>
              <a:rPr lang="zh-CN" altLang="en-US"/>
              <a:t>外事项目管理系统</a:t>
            </a:r>
            <a:r>
              <a:rPr lang="en-US" altLang="zh-CN"/>
              <a:t>”</a:t>
            </a:r>
            <a:r>
              <a:rPr lang="zh-CN" altLang="en-US"/>
              <a:t>（</a:t>
            </a:r>
            <a:r>
              <a:rPr lang="en-US" altLang="zh-CN"/>
              <a:t>http://wsxmgl.tsinghua.edu.cn</a:t>
            </a:r>
            <a:r>
              <a:rPr lang="zh-CN" altLang="en-US"/>
              <a:t>）</a:t>
            </a:r>
            <a:r>
              <a:rPr lang="en-US" altLang="zh-CN"/>
              <a:t>“</a:t>
            </a:r>
            <a:r>
              <a:rPr lang="zh-CN" altLang="en-US"/>
              <a:t>学生海外学习交流项目管理</a:t>
            </a:r>
            <a:r>
              <a:rPr lang="en-US" altLang="zh-CN"/>
              <a:t>”</a:t>
            </a:r>
            <a:r>
              <a:rPr lang="zh-CN" altLang="en-US"/>
              <a:t>对出访团组进行项目立项，提交项目立项或备案登记材料，获批后将获得</a:t>
            </a:r>
            <a:r>
              <a:rPr lang="zh-CN" altLang="en-US">
                <a:highlight>
                  <a:srgbClr val="FFFF00"/>
                </a:highlight>
              </a:rPr>
              <a:t>项目编号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</a:rPr>
              <a:t>本流程完成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 u="sng">
                <a:highlight>
                  <a:srgbClr val="FFFF00"/>
                </a:highlight>
              </a:rPr>
              <a:t>立项</a:t>
            </a:r>
            <a:r>
              <a:rPr lang="en-US" altLang="zh-CN" u="sng">
                <a:highlight>
                  <a:srgbClr val="FFFF00"/>
                </a:highlight>
              </a:rPr>
              <a:t>（</a:t>
            </a:r>
            <a:r>
              <a:rPr lang="zh-CN" altLang="en-US" u="sng">
                <a:highlight>
                  <a:srgbClr val="FFFF00"/>
                </a:highlight>
              </a:rPr>
              <a:t>支队</a:t>
            </a:r>
            <a:r>
              <a:rPr lang="en-US" altLang="zh-CN" u="sng">
                <a:highlight>
                  <a:srgbClr val="FFFF00"/>
                </a:highlight>
              </a:rPr>
              <a:t>） </a:t>
            </a:r>
            <a:r>
              <a:rPr lang="zh-CN" altLang="en-US">
                <a:highlight>
                  <a:srgbClr val="FFFF00"/>
                </a:highlight>
              </a:rPr>
              <a:t>即可获得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第二步：团组的团长</a:t>
            </a:r>
            <a:r>
              <a:rPr lang="en-US" altLang="zh-CN"/>
              <a:t>/</a:t>
            </a:r>
            <a:r>
              <a:rPr lang="zh-CN" altLang="en-US"/>
              <a:t>支队长（学生）先在</a:t>
            </a:r>
            <a:r>
              <a:rPr lang="en-US" altLang="zh-CN"/>
              <a:t>“</a:t>
            </a:r>
            <a:r>
              <a:rPr lang="zh-CN" altLang="en-US"/>
              <a:t>外事项目管理系统</a:t>
            </a:r>
            <a:r>
              <a:rPr lang="en-US" altLang="zh-CN"/>
              <a:t>”-“</a:t>
            </a:r>
            <a:r>
              <a:rPr lang="zh-CN" altLang="en-US"/>
              <a:t>学生因公出国（境）申请</a:t>
            </a:r>
            <a:r>
              <a:rPr lang="en-US" altLang="zh-CN"/>
              <a:t>”</a:t>
            </a:r>
            <a:r>
              <a:rPr lang="zh-CN" altLang="en-US"/>
              <a:t>系统中</a:t>
            </a:r>
            <a:r>
              <a:rPr lang="zh-CN" altLang="en-US">
                <a:highlight>
                  <a:srgbClr val="FFFF00"/>
                </a:highlight>
              </a:rPr>
              <a:t>【出访任务申请】</a:t>
            </a:r>
            <a:r>
              <a:rPr lang="zh-CN" altLang="en-US"/>
              <a:t>申报须知页面选择</a:t>
            </a:r>
            <a:r>
              <a:rPr lang="en-US" altLang="zh-CN">
                <a:highlight>
                  <a:srgbClr val="FFFF00"/>
                </a:highlight>
              </a:rPr>
              <a:t>“</a:t>
            </a:r>
            <a:r>
              <a:rPr lang="zh-CN" altLang="en-US">
                <a:highlight>
                  <a:srgbClr val="FFFF00"/>
                </a:highlight>
              </a:rPr>
              <a:t>团组出访</a:t>
            </a:r>
            <a:r>
              <a:rPr lang="en-US" altLang="zh-CN">
                <a:highlight>
                  <a:srgbClr val="FFFF00"/>
                </a:highlight>
              </a:rPr>
              <a:t>”</a:t>
            </a:r>
            <a:r>
              <a:rPr lang="zh-CN" altLang="en-US"/>
              <a:t>，填写学生海外项目编号后点击开始填报，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2830" y="2094865"/>
            <a:ext cx="7100570" cy="4586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>
                <a:sym typeface="+mn-ea"/>
              </a:rPr>
              <a:t>完成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出访任务信息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行程信息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个人信息（成员信息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个人信息备案）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提交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四部分信息。</a:t>
            </a:r>
            <a:endParaRPr lang="zh-CN" altLang="en-US">
              <a:sym typeface="+mn-ea"/>
            </a:endParaRPr>
          </a:p>
          <a:p>
            <a:r>
              <a:rPr lang="zh-CN" altLang="en-US"/>
              <a:t>出访任务信息</a:t>
            </a:r>
            <a:r>
              <a:rPr lang="en-US" altLang="zh-CN"/>
              <a:t>：“</a:t>
            </a:r>
            <a:r>
              <a:rPr lang="zh-CN" altLang="en-US"/>
              <a:t>出访任务信息</a:t>
            </a:r>
            <a:r>
              <a:rPr lang="en-US" altLang="zh-CN"/>
              <a:t>”</a:t>
            </a:r>
            <a:r>
              <a:rPr lang="zh-CN" altLang="en-US"/>
              <a:t>页面的部分字段信息会读取学生海外项目信息，其中包括项目交流国家和地区、项目主责单位负责人，项目主管单位相关信息需要团长根据实际情况填写；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支队长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043555"/>
            <a:ext cx="6924040" cy="359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79293" y="1115786"/>
            <a:ext cx="10436004" cy="4878472"/>
          </a:xfrm>
        </p:spPr>
        <p:txBody>
          <a:bodyPr/>
          <a:p>
            <a:r>
              <a:rPr lang="zh-CN" altLang="en-US"/>
              <a:t>行程信息</a:t>
            </a:r>
            <a:r>
              <a:rPr lang="en-US" altLang="zh-CN"/>
              <a:t>：</a:t>
            </a:r>
            <a:r>
              <a:rPr lang="zh-CN" altLang="en-US"/>
              <a:t>注：</a:t>
            </a:r>
            <a:r>
              <a:rPr lang="en-US" altLang="zh-CN"/>
              <a:t>1</a:t>
            </a:r>
            <a:r>
              <a:rPr lang="zh-CN" altLang="en-US"/>
              <a:t>）短期出访时，出访任务信息页面如有过境国家和地区且需要住宿时，系统会将出访任务信息页面的出访国家和地区</a:t>
            </a:r>
            <a:r>
              <a:rPr lang="en-US" altLang="zh-CN"/>
              <a:t>+</a:t>
            </a:r>
            <a:r>
              <a:rPr lang="zh-CN" altLang="en-US"/>
              <a:t>过境国家</a:t>
            </a:r>
            <a:r>
              <a:rPr lang="en-US" altLang="zh-CN"/>
              <a:t>/</a:t>
            </a:r>
            <a:r>
              <a:rPr lang="zh-CN" altLang="en-US"/>
              <a:t>地区，添加到行程信息里的出访国家和地区选项中；长期出访时，如有过境国家或地区且产生住宿时，不计入费用预算中；</a:t>
            </a:r>
            <a:r>
              <a:rPr lang="en-US" altLang="zh-CN"/>
              <a:t>2</a:t>
            </a:r>
            <a:r>
              <a:rPr lang="zh-CN" altLang="en-US"/>
              <a:t>）添加行程信息时，住宿城市之间抵达、离开时间不能有重叠；</a:t>
            </a:r>
            <a:r>
              <a:rPr lang="en-US" altLang="zh-CN"/>
              <a:t>3</a:t>
            </a:r>
            <a:r>
              <a:rPr lang="zh-CN" altLang="en-US"/>
              <a:t>）行程安排不能有空档天，必须完全与离抵国境相符合；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34815"/>
          <a:stretch>
            <a:fillRect/>
          </a:stretch>
        </p:blipFill>
        <p:spPr>
          <a:xfrm>
            <a:off x="4570095" y="2653665"/>
            <a:ext cx="6945630" cy="334073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支队长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76728" y="1585686"/>
            <a:ext cx="10436004" cy="4878472"/>
          </a:xfrm>
        </p:spPr>
        <p:txBody>
          <a:bodyPr/>
          <a:p>
            <a:r>
              <a:rPr lang="zh-CN" altLang="en-US"/>
              <a:t>团组成员</a:t>
            </a:r>
            <a:r>
              <a:rPr lang="en-US" altLang="zh-CN"/>
              <a:t>：</a:t>
            </a:r>
            <a:r>
              <a:rPr lang="zh-CN" altLang="en-US"/>
              <a:t>进入</a:t>
            </a:r>
            <a:r>
              <a:rPr lang="en-US" altLang="zh-CN"/>
              <a:t>“</a:t>
            </a:r>
            <a:r>
              <a:rPr lang="zh-CN" altLang="en-US"/>
              <a:t>团组成员</a:t>
            </a:r>
            <a:r>
              <a:rPr lang="en-US" altLang="zh-CN"/>
              <a:t>”</a:t>
            </a:r>
            <a:r>
              <a:rPr lang="zh-CN" altLang="en-US"/>
              <a:t>页面，团长可以通过每次搜索学号或姓名后添加为成员，也可以通过下载模板后批量导入的形式添加成员，团长本人点击黄色按钮</a:t>
            </a:r>
            <a:r>
              <a:rPr lang="en-US" altLang="zh-CN"/>
              <a:t>“</a:t>
            </a:r>
            <a:r>
              <a:rPr lang="zh-CN" altLang="en-US"/>
              <a:t>个人信息备案</a:t>
            </a:r>
            <a:r>
              <a:rPr lang="en-US" altLang="zh-CN"/>
              <a:t>”</a:t>
            </a:r>
            <a:r>
              <a:rPr lang="zh-CN" altLang="en-US"/>
              <a:t>进入本人个人信息填写页面，如事先已填写</a:t>
            </a:r>
            <a:r>
              <a:rPr lang="en-US" altLang="zh-CN"/>
              <a:t>“</a:t>
            </a:r>
            <a:r>
              <a:rPr lang="zh-CN" altLang="en-US"/>
              <a:t>个人备案</a:t>
            </a:r>
            <a:r>
              <a:rPr lang="en-US" altLang="zh-CN"/>
              <a:t>”</a:t>
            </a:r>
            <a:r>
              <a:rPr lang="zh-CN" altLang="en-US"/>
              <a:t>时只需要补充费用信息，其中带有</a:t>
            </a:r>
            <a:r>
              <a:rPr lang="en-US" altLang="zh-CN"/>
              <a:t>*</a:t>
            </a:r>
            <a:r>
              <a:rPr lang="zh-CN" altLang="en-US"/>
              <a:t>的表示为必填项；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0590" y="2710815"/>
            <a:ext cx="5481955" cy="375348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支队长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待团长</a:t>
            </a:r>
            <a:r>
              <a:rPr lang="en-US" altLang="zh-CN"/>
              <a:t>/</a:t>
            </a:r>
            <a:r>
              <a:rPr lang="zh-CN" altLang="en-US"/>
              <a:t>支队长（学生）出访任务经审核通过办理完成后，其他团组成员可填写</a:t>
            </a:r>
            <a:r>
              <a:rPr lang="en-US" altLang="zh-CN"/>
              <a:t>“</a:t>
            </a:r>
            <a:r>
              <a:rPr lang="zh-CN" altLang="en-US"/>
              <a:t>个人信息</a:t>
            </a:r>
            <a:r>
              <a:rPr lang="en-US" altLang="zh-CN"/>
              <a:t>”</a:t>
            </a:r>
            <a:r>
              <a:rPr lang="zh-CN" altLang="en-US"/>
              <a:t>并提交申请。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——</a:t>
            </a:r>
            <a:r>
              <a:rPr lang="zh-CN" altLang="en-US"/>
              <a:t>个人信息备案页面，预计毕业时间如早于入境日期时，需要上传：应届毕业生补充材料；保存并下一步时会弹出窗口，提示学生需要补充其他手续的网址；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支队员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1105" y="3228340"/>
            <a:ext cx="5713095" cy="2508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注：</a:t>
            </a:r>
            <a:r>
              <a:rPr lang="en-US" altLang="zh-CN"/>
              <a:t>1</a:t>
            </a:r>
            <a:r>
              <a:rPr lang="zh-CN" altLang="en-US"/>
              <a:t>）短期出访时，</a:t>
            </a:r>
            <a:r>
              <a:rPr lang="en-US" altLang="zh-CN"/>
              <a:t>“</a:t>
            </a:r>
            <a:r>
              <a:rPr lang="zh-CN" altLang="en-US"/>
              <a:t>是否在长期出访期间（使用校内经费），执行短期任务？</a:t>
            </a:r>
            <a:r>
              <a:rPr lang="en-US" altLang="zh-CN"/>
              <a:t>”</a:t>
            </a:r>
            <a:r>
              <a:rPr lang="zh-CN" altLang="en-US"/>
              <a:t>，选择</a:t>
            </a:r>
            <a:r>
              <a:rPr lang="en-US" altLang="zh-CN"/>
              <a:t>“</a:t>
            </a:r>
            <a:r>
              <a:rPr lang="zh-CN" altLang="en-US"/>
              <a:t>是</a:t>
            </a:r>
            <a:r>
              <a:rPr lang="en-US" altLang="zh-CN"/>
              <a:t>”</a:t>
            </a:r>
            <a:r>
              <a:rPr lang="zh-CN" altLang="en-US"/>
              <a:t>时，系统会将伙食标准自动减半后再进行三公费用合计；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）短期出访时，是否境外租车？选择</a:t>
            </a:r>
            <a:r>
              <a:rPr lang="en-US" altLang="zh-CN"/>
              <a:t>“</a:t>
            </a:r>
            <a:r>
              <a:rPr lang="zh-CN" altLang="en-US"/>
              <a:t>是</a:t>
            </a:r>
            <a:r>
              <a:rPr lang="en-US" altLang="zh-CN"/>
              <a:t>”</a:t>
            </a:r>
            <a:r>
              <a:rPr lang="zh-CN" altLang="en-US"/>
              <a:t>时，系统会将租车天数内的公杂费自动减半后再进行三公费用合计；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）非全日制或定向生学生需要上传附件：原单位同意函；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）国籍如非中国时，不需要填写是否已参加行前培训；</a:t>
            </a:r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）如有国家贷款，则需要上传附件：担保证明材料；</a:t>
            </a:r>
            <a:endParaRPr lang="zh-CN" altLang="en-US"/>
          </a:p>
          <a:p>
            <a:r>
              <a:rPr lang="en-US" altLang="zh-CN"/>
              <a:t>6</a:t>
            </a:r>
            <a:r>
              <a:rPr lang="zh-CN" altLang="en-US"/>
              <a:t>）短期出访时，三公费用每一项的天数可由出访学生自由分配，但所有出访城市天数之和不能大于总出访天数；长期出访时，系统提取出访任务信息页面出访天数，除以</a:t>
            </a:r>
            <a:r>
              <a:rPr lang="en-US" altLang="zh-CN"/>
              <a:t>30</a:t>
            </a:r>
            <a:r>
              <a:rPr lang="zh-CN" altLang="en-US"/>
              <a:t>折合成月数；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支队员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注：</a:t>
            </a:r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校内资助明细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中的费用来源，如选择院系或其他时，同时出访天数在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天及以上时，审核流程中需经费部门财务主管审核；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校内资助明细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中的费用来源，除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校团委</a:t>
            </a:r>
            <a:r>
              <a:rPr lang="en-US" altLang="zh-CN">
                <a:sym typeface="+mn-ea"/>
              </a:rPr>
              <a:t>”“</a:t>
            </a:r>
            <a:r>
              <a:rPr lang="zh-CN" altLang="en-US">
                <a:sym typeface="+mn-ea"/>
              </a:rPr>
              <a:t>院系或其他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两项来源外，其他来源均需上传附件：项目资助证明材料；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）个人信息备案页面中的三公经费信息，系统对于学生填写汇率进行检测；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）任务申请中，校内资助明细合计不能大于此次任务的经费预算总额；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支队员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第三步：外汇预算单也可通过系统线上提交借款</a:t>
            </a:r>
            <a:r>
              <a:rPr lang="en-US" altLang="zh-CN"/>
              <a:t>/</a:t>
            </a:r>
            <a:r>
              <a:rPr lang="zh-CN" altLang="en-US"/>
              <a:t>报销申请，在</a:t>
            </a:r>
            <a:r>
              <a:rPr lang="en-US" altLang="zh-CN"/>
              <a:t>“</a:t>
            </a:r>
            <a:r>
              <a:rPr lang="zh-CN" altLang="en-US"/>
              <a:t>学生因公出国（境）申请</a:t>
            </a:r>
            <a:r>
              <a:rPr lang="en-US" altLang="zh-CN"/>
              <a:t>”-“</a:t>
            </a:r>
            <a:r>
              <a:rPr lang="zh-CN" altLang="en-US"/>
              <a:t>费用预算申请</a:t>
            </a:r>
            <a:r>
              <a:rPr lang="en-US" altLang="zh-CN"/>
              <a:t>”</a:t>
            </a:r>
            <a:r>
              <a:rPr lang="zh-CN" altLang="en-US"/>
              <a:t>界面，在指定任务最右侧点击</a:t>
            </a:r>
            <a:r>
              <a:rPr lang="en-US" altLang="zh-CN"/>
              <a:t>“</a:t>
            </a:r>
            <a:r>
              <a:rPr lang="zh-CN" altLang="en-US"/>
              <a:t>借款</a:t>
            </a:r>
            <a:r>
              <a:rPr lang="en-US" altLang="zh-CN"/>
              <a:t>/</a:t>
            </a:r>
            <a:r>
              <a:rPr lang="zh-CN" altLang="en-US"/>
              <a:t>报销</a:t>
            </a:r>
            <a:r>
              <a:rPr lang="en-US" altLang="zh-CN"/>
              <a:t>”</a:t>
            </a:r>
            <a:r>
              <a:rPr lang="zh-CN" altLang="en-US"/>
              <a:t>申请外汇预算单，经国际处审核通过后团组成员可在</a:t>
            </a:r>
            <a:r>
              <a:rPr lang="en-US" altLang="zh-CN"/>
              <a:t>“</a:t>
            </a:r>
            <a:r>
              <a:rPr lang="zh-CN" altLang="en-US"/>
              <a:t>费用预算查询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操作</a:t>
            </a:r>
            <a:r>
              <a:rPr lang="en-US" altLang="zh-CN"/>
              <a:t>”-“</a:t>
            </a:r>
            <a:r>
              <a:rPr lang="zh-CN" altLang="en-US"/>
              <a:t>费用预算表下载</a:t>
            </a:r>
            <a:r>
              <a:rPr lang="en-US" altLang="zh-CN"/>
              <a:t>”</a:t>
            </a:r>
            <a:r>
              <a:rPr lang="zh-CN" altLang="en-US"/>
              <a:t>打印系统自动生成的外汇预算单，进行校内借款或报销手续。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第四步：团组出访如有出访行程时间或地点、出访内容变更，须在行前完成。由团长</a:t>
            </a:r>
            <a:r>
              <a:rPr lang="en-US" altLang="zh-CN"/>
              <a:t>/</a:t>
            </a:r>
            <a:r>
              <a:rPr lang="zh-CN" altLang="en-US"/>
              <a:t>支队长（学生）先行在系统</a:t>
            </a:r>
            <a:r>
              <a:rPr lang="en-US" altLang="zh-CN"/>
              <a:t>“</a:t>
            </a:r>
            <a:r>
              <a:rPr lang="zh-CN" altLang="en-US"/>
              <a:t>任务变更申请</a:t>
            </a:r>
            <a:r>
              <a:rPr lang="en-US" altLang="zh-CN"/>
              <a:t>”</a:t>
            </a:r>
            <a:r>
              <a:rPr lang="zh-CN" altLang="en-US"/>
              <a:t>界面线上提交变更申请，变更申请经国际处审核通过后团组成员再提交变更申请。如仅有出访费用变更可由团组成员自己提交变更申请。</a:t>
            </a:r>
            <a:endParaRPr lang="zh-CN" altLang="en-US"/>
          </a:p>
          <a:p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YTU0YWYxZDNlZjc3ZjU4MTRjOWUyYzVjZjdlNzAxYWQifQ=="/>
</p:tagLst>
</file>

<file path=ppt/theme/theme1.xml><?xml version="1.0" encoding="utf-8"?>
<a:theme xmlns:a="http://schemas.openxmlformats.org/drawingml/2006/main" name="海外实践">
  <a:themeElements>
    <a:clrScheme name="紫色">
      <a:dk1>
        <a:sysClr val="windowText" lastClr="000000"/>
      </a:dk1>
      <a:lt1>
        <a:sysClr val="window" lastClr="FFFFFF"/>
      </a:lt1>
      <a:dk2>
        <a:srgbClr val="660874"/>
      </a:dk2>
      <a:lt2>
        <a:srgbClr val="D93379"/>
      </a:lt2>
      <a:accent1>
        <a:srgbClr val="793D7D"/>
      </a:accent1>
      <a:accent2>
        <a:srgbClr val="926997"/>
      </a:accent2>
      <a:accent3>
        <a:srgbClr val="B395B9"/>
      </a:accent3>
      <a:accent4>
        <a:srgbClr val="C4B1CB"/>
      </a:accent4>
      <a:accent5>
        <a:srgbClr val="D8CADD"/>
      </a:accent5>
      <a:accent6>
        <a:srgbClr val="EBE5EE"/>
      </a:accent6>
      <a:hlink>
        <a:srgbClr val="00B0F0"/>
      </a:hlink>
      <a:folHlink>
        <a:srgbClr val="FFC000"/>
      </a:folHlink>
    </a:clrScheme>
    <a:fontScheme name="仅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2904</Words>
  <Application>WPS 文字</Application>
  <PresentationFormat>宽屏</PresentationFormat>
  <Paragraphs>128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方正小标宋简体</vt:lpstr>
      <vt:lpstr>Times New Roman</vt:lpstr>
      <vt:lpstr>Helvetica Neue Medium</vt:lpstr>
      <vt:lpstr>Helvetica Neue</vt:lpstr>
      <vt:lpstr>黑体</vt:lpstr>
      <vt:lpstr>汉仪中黑KW</vt:lpstr>
      <vt:lpstr>微软雅黑</vt:lpstr>
      <vt:lpstr>汉仪旗黑</vt:lpstr>
      <vt:lpstr>微软雅黑</vt:lpstr>
      <vt:lpstr>宋体</vt:lpstr>
      <vt:lpstr>Arial Unicode MS</vt:lpstr>
      <vt:lpstr>汉仪书宋二KW</vt:lpstr>
      <vt:lpstr>等线</vt:lpstr>
      <vt:lpstr>汉仪中等线KW</vt:lpstr>
      <vt:lpstr>Helvetica Neue</vt:lpstr>
      <vt:lpstr>黑体</vt:lpstr>
      <vt:lpstr>海外实践</vt:lpstr>
      <vt:lpstr>PowerPoint 演示文稿</vt:lpstr>
      <vt:lpstr>外事管理系统立项操作指南 ——面向在校团委立项的海外实践支队指导教师</vt:lpstr>
      <vt:lpstr>前往在线服务系统-教职工因公出国（境）计划报备完成报备</vt:lpstr>
      <vt:lpstr>前往在线服务系统-教职工因公出国（境）计划报备完成报备</vt:lpstr>
      <vt:lpstr>前往在线服务系统-教职工因公出国（境）任务申请完成申请</vt:lpstr>
      <vt:lpstr>前往在线服务系统-教职工因公出国（境）任务申请完成申请</vt:lpstr>
      <vt:lpstr>前往在线服务系统-教职工因公出国（境）任务申请完成申请</vt:lpstr>
      <vt:lpstr>PowerPoint 演示文稿</vt:lpstr>
      <vt:lpstr>外事管理系统立项操作指南 ——面向在校团委立项的海外实践支队</vt:lpstr>
      <vt:lpstr>在外事管理系统完成立项审批，获取项目编号 </vt:lpstr>
      <vt:lpstr>在外事管理系统完成立项审批，获取项目编号 </vt:lpstr>
      <vt:lpstr>在外事管理系统完成立项审批，获取项目编号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支队长</vt:lpstr>
      <vt:lpstr>支队长</vt:lpstr>
      <vt:lpstr>PowerPoint 演示文稿</vt:lpstr>
      <vt:lpstr>支队员</vt:lpstr>
      <vt:lpstr>支队员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学生因公出国（境）申请流程和注意事项</dc:title>
  <dc:creator>Fengzhou</dc:creator>
  <cp:lastModifiedBy>邱哈尼</cp:lastModifiedBy>
  <cp:revision>2532</cp:revision>
  <dcterms:created xsi:type="dcterms:W3CDTF">2025-06-15T15:14:05Z</dcterms:created>
  <dcterms:modified xsi:type="dcterms:W3CDTF">2025-06-15T15:14:05Z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9518D425FF49E4213CE34E688C26D4A8_43</vt:lpwstr>
  </property>
  <property fmtid="{D5CDD505-2E9C-101B-9397-08002B2CF9AE}" pid="3" name="KSOProductBuildVer">
    <vt:lpwstr>2052-7.2.2.8955</vt:lpwstr>
  </property>
  <property fmtid="{D5CDD505-2E9C-101B-9397-08002B2CF9AE}" pid="4" name="KSOSaveFontToCloudKey">
    <vt:lpwstr>343891444_btnclosed</vt:lpwstr>
  </property>
</Properties>
</file>