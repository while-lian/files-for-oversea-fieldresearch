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8" r:id="rId3"/>
    <p:sldId id="289" r:id="rId4"/>
    <p:sldId id="327" r:id="rId6"/>
    <p:sldId id="326" r:id="rId7"/>
    <p:sldId id="328" r:id="rId8"/>
    <p:sldId id="320" r:id="rId9"/>
    <p:sldId id="329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3C00"/>
    <a:srgbClr val="FFC100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5"/>
    <p:restoredTop sz="95581"/>
  </p:normalViewPr>
  <p:slideViewPr>
    <p:cSldViewPr snapToGrid="0" snapToObjects="1" showGuides="1">
      <p:cViewPr varScale="1">
        <p:scale>
          <a:sx n="77" d="100"/>
          <a:sy n="77" d="100"/>
        </p:scale>
        <p:origin x="240" y="62"/>
      </p:cViewPr>
      <p:guideLst>
        <p:guide orient="horz" pos="2149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1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5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5E9C8-2477-479D-A6AF-230F9BD02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5CC78-5567-4098-BE46-52D15D36F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" t="2192" r="-407" b="228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" t="2192" r="-407" b="228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1227883" y="182033"/>
            <a:ext cx="5338017" cy="5295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grpSp>
        <p:nvGrpSpPr>
          <p:cNvPr id="4" name="组 3"/>
          <p:cNvGrpSpPr/>
          <p:nvPr userDrawn="1"/>
        </p:nvGrpSpPr>
        <p:grpSpPr>
          <a:xfrm>
            <a:off x="-1" y="182033"/>
            <a:ext cx="1104901" cy="529569"/>
            <a:chOff x="1" y="2266932"/>
            <a:chExt cx="12192000" cy="1446549"/>
          </a:xfrm>
        </p:grpSpPr>
        <p:sp>
          <p:nvSpPr>
            <p:cNvPr id="5" name="矩形 4"/>
            <p:cNvSpPr/>
            <p:nvPr/>
          </p:nvSpPr>
          <p:spPr>
            <a:xfrm rot="16200000">
              <a:off x="5854909" y="-2623610"/>
              <a:ext cx="482183" cy="1219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16200000">
              <a:off x="5854909" y="-3105793"/>
              <a:ext cx="482183" cy="1219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6200000">
              <a:off x="5854909" y="-3587976"/>
              <a:ext cx="482183" cy="121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底图.jpg" descr="底图.jpg"/>
          <p:cNvPicPr>
            <a:picLocks noChangeAspect="1"/>
          </p:cNvPicPr>
          <p:nvPr/>
        </p:nvPicPr>
        <p:blipFill>
          <a:blip r:embed="rId2">
            <a:alphaModFix amt="90171"/>
          </a:blip>
          <a:srcRect b="15903"/>
          <a:stretch>
            <a:fillRect/>
          </a:stretch>
        </p:blipFill>
        <p:spPr>
          <a:xfrm>
            <a:off x="-20195" y="0"/>
            <a:ext cx="12232392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6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87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18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06147" y="2053199"/>
            <a:ext cx="6343233" cy="3437490"/>
          </a:xfrm>
          <a:prstGeom prst="rect">
            <a:avLst/>
          </a:prstGeom>
        </p:spPr>
        <p:txBody>
          <a:bodyPr numCol="1" spcCol="38100"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000750" y="6540500"/>
            <a:ext cx="184253" cy="187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>
            <a:off x="1" y="2266932"/>
            <a:ext cx="12192000" cy="1446549"/>
            <a:chOff x="1" y="2266932"/>
            <a:chExt cx="12192000" cy="1446549"/>
          </a:xfrm>
        </p:grpSpPr>
        <p:sp>
          <p:nvSpPr>
            <p:cNvPr id="3" name="矩形 2"/>
            <p:cNvSpPr/>
            <p:nvPr/>
          </p:nvSpPr>
          <p:spPr>
            <a:xfrm rot="16200000">
              <a:off x="5854909" y="-2623610"/>
              <a:ext cx="482183" cy="1219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16200000">
              <a:off x="5854909" y="-3105793"/>
              <a:ext cx="482183" cy="1219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/>
            <p:cNvSpPr/>
            <p:nvPr/>
          </p:nvSpPr>
          <p:spPr>
            <a:xfrm rot="16200000">
              <a:off x="5854909" y="-3587976"/>
              <a:ext cx="482183" cy="121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39167" y="2269473"/>
            <a:ext cx="10448290" cy="14439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altLang="zh-CN" sz="4400" b="1" dirty="0">
                <a:ln w="0"/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2023-2024</a:t>
            </a:r>
            <a:r>
              <a:rPr lang="zh-CN" altLang="en-US" sz="4400" b="1" dirty="0">
                <a:ln w="0"/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行健书院</a:t>
            </a:r>
            <a:r>
              <a:rPr lang="zh-CN" altLang="en-US" sz="4400" b="1" dirty="0">
                <a:ln w="0"/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暑假社会实践动员会</a:t>
            </a:r>
            <a:endParaRPr lang="zh-CN" altLang="en-US" sz="4400" b="1" dirty="0">
              <a:ln w="0"/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4400" b="1" dirty="0">
                <a:ln w="0"/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宣传</a:t>
            </a:r>
            <a:r>
              <a:rPr lang="zh-CN" altLang="en-US" sz="4400" b="1" dirty="0">
                <a:ln w="0"/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培训</a:t>
            </a:r>
            <a:endParaRPr lang="zh-CN" altLang="en-US" sz="4400" b="1" dirty="0">
              <a:ln w="0"/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8"/>
          <p:cNvSpPr txBox="1"/>
          <p:nvPr/>
        </p:nvSpPr>
        <p:spPr>
          <a:xfrm>
            <a:off x="3471725" y="4505256"/>
            <a:ext cx="5248551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行健书院团委实践组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ctr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2025.06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227884" y="182033"/>
            <a:ext cx="5044042" cy="529569"/>
          </a:xfrm>
        </p:spPr>
        <p:txBody>
          <a:bodyPr/>
          <a:lstStyle/>
          <a:p>
            <a:r>
              <a:rPr kumimoji="1" lang="zh-CN" altLang="en-US" dirty="0"/>
              <a:t>实践</a:t>
            </a:r>
            <a:r>
              <a:rPr kumimoji="1" lang="zh-CN" altLang="en-US" dirty="0"/>
              <a:t>宣传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1236345"/>
            <a:ext cx="6210300" cy="174371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t="1216"/>
          <a:stretch>
            <a:fillRect/>
          </a:stretch>
        </p:blipFill>
        <p:spPr>
          <a:xfrm>
            <a:off x="1482090" y="3336925"/>
            <a:ext cx="5529580" cy="2747010"/>
          </a:xfrm>
          <a:prstGeom prst="rect">
            <a:avLst/>
          </a:prstGeom>
        </p:spPr>
      </p:pic>
      <p:sp>
        <p:nvSpPr>
          <p:cNvPr id="25" name="文本框 8"/>
          <p:cNvSpPr txBox="1"/>
          <p:nvPr/>
        </p:nvSpPr>
        <p:spPr>
          <a:xfrm>
            <a:off x="7364095" y="1464945"/>
            <a:ext cx="4157345" cy="392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宣传成果是实践成果的重要组成部分</a:t>
            </a:r>
            <a:endParaRPr lang="zh-CN" altLang="en-US" sz="24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4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对内有助于同学及时总结实践见闻、实践</a:t>
            </a:r>
            <a:r>
              <a:rPr lang="zh-CN" altLang="en-US" sz="24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收获</a:t>
            </a:r>
            <a:endParaRPr lang="zh-CN" altLang="en-US" sz="24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4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对外可展示清华学子实践成果、</a:t>
            </a:r>
            <a:r>
              <a:rPr lang="zh-CN" altLang="en-US" sz="24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社会担当</a:t>
            </a:r>
            <a:endParaRPr lang="zh-CN" altLang="en-US" sz="24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53" name="矩形: 圆角 126"/>
          <p:cNvSpPr/>
          <p:nvPr/>
        </p:nvSpPr>
        <p:spPr>
          <a:xfrm>
            <a:off x="7557135" y="5700395"/>
            <a:ext cx="3898265" cy="846455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indent="0" algn="ctr">
              <a:buFont typeface="Arial" panose="020B060402020209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与评级结果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紧密挂钩！！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227884" y="182033"/>
            <a:ext cx="5044042" cy="529569"/>
          </a:xfrm>
        </p:spPr>
        <p:txBody>
          <a:bodyPr/>
          <a:lstStyle/>
          <a:p>
            <a:r>
              <a:rPr kumimoji="1" lang="zh-CN" altLang="en-US" dirty="0"/>
              <a:t>宣传形式</a:t>
            </a:r>
            <a:endParaRPr kumimoji="1" lang="zh-CN" altLang="en-US" dirty="0"/>
          </a:p>
        </p:txBody>
      </p:sp>
      <p:sp>
        <p:nvSpPr>
          <p:cNvPr id="25" name="文本框 8"/>
          <p:cNvSpPr txBox="1"/>
          <p:nvPr/>
        </p:nvSpPr>
        <p:spPr>
          <a:xfrm>
            <a:off x="2628265" y="716915"/>
            <a:ext cx="154368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推送类</a:t>
            </a:r>
            <a:endParaRPr lang="zh-CN" altLang="en-US" sz="28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095" y="1402080"/>
            <a:ext cx="2654394" cy="1620000"/>
          </a:xfrm>
          <a:prstGeom prst="rect">
            <a:avLst/>
          </a:prstGeom>
        </p:spPr>
      </p:pic>
      <p:sp>
        <p:nvSpPr>
          <p:cNvPr id="60" name="文本框 8"/>
          <p:cNvSpPr txBox="1"/>
          <p:nvPr/>
        </p:nvSpPr>
        <p:spPr>
          <a:xfrm>
            <a:off x="3674110" y="1506220"/>
            <a:ext cx="2050415" cy="1410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预告推</a:t>
            </a:r>
            <a:endParaRPr lang="zh-CN" altLang="en-US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支队成员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介绍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调研主题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介绍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调研成果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介绍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9744"/>
          <a:stretch>
            <a:fillRect/>
          </a:stretch>
        </p:blipFill>
        <p:spPr>
          <a:xfrm>
            <a:off x="1212850" y="3184525"/>
            <a:ext cx="2687955" cy="1619885"/>
          </a:xfrm>
          <a:prstGeom prst="rect">
            <a:avLst/>
          </a:prstGeom>
        </p:spPr>
      </p:pic>
      <p:sp>
        <p:nvSpPr>
          <p:cNvPr id="5" name="文本框 8"/>
          <p:cNvSpPr txBox="1"/>
          <p:nvPr/>
        </p:nvSpPr>
        <p:spPr>
          <a:xfrm>
            <a:off x="3674110" y="3535680"/>
            <a:ext cx="2050415" cy="109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行程推</a:t>
            </a:r>
            <a:endParaRPr lang="zh-CN" altLang="en-US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总结每日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成果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争取不记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流水账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" y="5140325"/>
            <a:ext cx="2531110" cy="1320165"/>
          </a:xfrm>
          <a:prstGeom prst="rect">
            <a:avLst/>
          </a:prstGeom>
        </p:spPr>
      </p:pic>
      <p:sp>
        <p:nvSpPr>
          <p:cNvPr id="8" name="文本框 8"/>
          <p:cNvSpPr txBox="1"/>
          <p:nvPr/>
        </p:nvSpPr>
        <p:spPr>
          <a:xfrm>
            <a:off x="3674110" y="5245100"/>
            <a:ext cx="2050415" cy="1410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总结推</a:t>
            </a:r>
            <a:endParaRPr lang="zh-CN" altLang="en-US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综述支队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行程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总结实践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成果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做工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精良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77785" y="751205"/>
            <a:ext cx="154368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视频</a:t>
            </a:r>
            <a:r>
              <a:rPr lang="zh-CN" altLang="en-US" sz="28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类</a:t>
            </a:r>
            <a:endParaRPr lang="zh-CN" altLang="en-US" sz="28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510" y="1437005"/>
            <a:ext cx="2571429" cy="1440000"/>
          </a:xfrm>
          <a:prstGeom prst="rect">
            <a:avLst/>
          </a:prstGeom>
        </p:spPr>
      </p:pic>
      <p:sp>
        <p:nvSpPr>
          <p:cNvPr id="11" name="文本框 8"/>
          <p:cNvSpPr txBox="1"/>
          <p:nvPr/>
        </p:nvSpPr>
        <p:spPr>
          <a:xfrm>
            <a:off x="9803765" y="1506220"/>
            <a:ext cx="2280285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各类短视频、</a:t>
            </a:r>
            <a:r>
              <a:rPr lang="en-US" altLang="zh-CN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vlog</a:t>
            </a:r>
            <a:endParaRPr lang="en-US" altLang="zh-CN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可投稿清华大学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平台、天行健视频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号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支队新媒体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运营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77785" y="3013710"/>
            <a:ext cx="154368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新闻</a:t>
            </a:r>
            <a:r>
              <a:rPr lang="zh-CN" altLang="en-US" sz="28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类</a:t>
            </a:r>
            <a:endParaRPr lang="zh-CN" altLang="en-US" sz="28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rcRect b="23285"/>
          <a:stretch>
            <a:fillRect/>
          </a:stretch>
        </p:blipFill>
        <p:spPr>
          <a:xfrm>
            <a:off x="7171690" y="3664585"/>
            <a:ext cx="2231390" cy="1557020"/>
          </a:xfrm>
          <a:prstGeom prst="rect">
            <a:avLst/>
          </a:prstGeom>
        </p:spPr>
      </p:pic>
      <p:sp>
        <p:nvSpPr>
          <p:cNvPr id="13" name="文本框 8"/>
          <p:cNvSpPr txBox="1"/>
          <p:nvPr/>
        </p:nvSpPr>
        <p:spPr>
          <a:xfrm>
            <a:off x="9780905" y="3535680"/>
            <a:ext cx="230314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短小精悍，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言简意赅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可投稿各社会媒体、清华大学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平台等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53" name="矩形: 圆角 126"/>
          <p:cNvSpPr/>
          <p:nvPr/>
        </p:nvSpPr>
        <p:spPr>
          <a:xfrm>
            <a:off x="7557135" y="5614035"/>
            <a:ext cx="3898265" cy="846455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安排专员统筹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宣传工作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全体成员参与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宣传工作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5" grpId="0"/>
      <p:bldP spid="8" grpId="0"/>
      <p:bldP spid="25" grpId="0"/>
      <p:bldP spid="60" grpId="1"/>
      <p:bldP spid="5" grpId="1"/>
      <p:bldP spid="8" grpId="1"/>
      <p:bldP spid="25" grpId="1"/>
      <p:bldP spid="11" grpId="0"/>
      <p:bldP spid="9" grpId="0"/>
      <p:bldP spid="11" grpId="1"/>
      <p:bldP spid="9" grpId="1"/>
      <p:bldP spid="13" grpId="0"/>
      <p:bldP spid="12" grpId="0"/>
      <p:bldP spid="13" grpId="1"/>
      <p:bldP spid="12" grpId="1"/>
      <p:bldP spid="53" grpId="0" animBg="1"/>
      <p:bldP spid="5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227884" y="182033"/>
            <a:ext cx="5044042" cy="529569"/>
          </a:xfrm>
        </p:spPr>
        <p:txBody>
          <a:bodyPr/>
          <a:lstStyle/>
          <a:p>
            <a:r>
              <a:rPr kumimoji="1" lang="zh-CN" altLang="en-US" dirty="0"/>
              <a:t>传统宣传</a:t>
            </a:r>
            <a:r>
              <a:rPr kumimoji="1" lang="zh-CN" altLang="en-US" dirty="0"/>
              <a:t>平台</a:t>
            </a:r>
            <a:endParaRPr kumimoji="1" lang="zh-CN" altLang="en-US" dirty="0"/>
          </a:p>
        </p:txBody>
      </p:sp>
      <p:grpSp>
        <p:nvGrpSpPr>
          <p:cNvPr id="3" name="组 2"/>
          <p:cNvGrpSpPr/>
          <p:nvPr/>
        </p:nvGrpSpPr>
        <p:grpSpPr>
          <a:xfrm>
            <a:off x="1191064" y="985735"/>
            <a:ext cx="3159760" cy="5431155"/>
            <a:chOff x="1350851" y="1291678"/>
            <a:chExt cx="3159760" cy="5431155"/>
          </a:xfrm>
        </p:grpSpPr>
        <p:sp>
          <p:nvSpPr>
            <p:cNvPr id="4" name="矩形 3"/>
            <p:cNvSpPr/>
            <p:nvPr/>
          </p:nvSpPr>
          <p:spPr>
            <a:xfrm>
              <a:off x="1350851" y="2389593"/>
              <a:ext cx="3159760" cy="4333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5" name="文本框 8"/>
            <p:cNvSpPr txBox="1"/>
            <p:nvPr/>
          </p:nvSpPr>
          <p:spPr>
            <a:xfrm>
              <a:off x="1387668" y="2541088"/>
              <a:ext cx="2960857" cy="3690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lnSpc>
                  <a:spcPct val="130000"/>
                </a:lnSpc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投稿流程</a:t>
              </a:r>
              <a:endPara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支队内部排版、审核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文稿；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稿件转存至实践组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邱瀚仪处。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indent="0">
                <a:lnSpc>
                  <a:spcPct val="130000"/>
                </a:lnSpc>
                <a:buFont typeface="Arial" panose="020B060402020209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（</a:t>
              </a:r>
              <a:r>
                <a:rPr lang="en-US" altLang="zh-CN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18323897388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）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indent="0">
                <a:lnSpc>
                  <a:spcPct val="130000"/>
                </a:lnSpc>
                <a:buFont typeface="Arial" panose="020B0604020202090204" pitchFamily="34" charset="0"/>
                <a:buNone/>
              </a:pP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indent="0">
                <a:lnSpc>
                  <a:spcPct val="130000"/>
                </a:lnSpc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注意事项</a:t>
              </a:r>
              <a:endPara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涉及第三方的稿件必须交由第三方审核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过；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同一支队模板尽量统一，开头加上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支队介绍；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en-US" altLang="zh-CN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THU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天行健</a:t>
              </a:r>
              <a:r>
                <a:rPr lang="zh-CN" altLang="en-US" sz="1600" b="1" dirty="0">
                  <a:solidFill>
                    <a:schemeClr val="tx1"/>
                  </a:solidFill>
                  <a:latin typeface="Century Gothic" panose="020B0502020202020204"/>
                  <a:ea typeface="微软雅黑" panose="020B0503020204020204" charset="-122"/>
                </a:rPr>
                <a:t>投稿规范。</a:t>
              </a:r>
              <a:endPara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7" name="五边形 21"/>
            <p:cNvSpPr/>
            <p:nvPr/>
          </p:nvSpPr>
          <p:spPr>
            <a:xfrm>
              <a:off x="1350851" y="1291678"/>
              <a:ext cx="2974975" cy="90297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CN" sz="1865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350851" y="1411693"/>
              <a:ext cx="256095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rgbClr val="FFFFFF"/>
                  </a:solidFill>
                  <a:latin typeface="Century Gothic" panose="020B0502020202020204"/>
                  <a:ea typeface="微软雅黑" panose="020B0503020204020204" charset="-122"/>
                </a:rPr>
                <a:t>THU</a:t>
              </a:r>
              <a:r>
                <a:rPr lang="zh-CN" altLang="en-US" sz="3200" b="1" dirty="0">
                  <a:solidFill>
                    <a:srgbClr val="FFFFFF"/>
                  </a:solidFill>
                  <a:latin typeface="Century Gothic" panose="020B0502020202020204"/>
                  <a:ea typeface="微软雅黑" panose="020B0503020204020204" charset="-122"/>
                </a:rPr>
                <a:t>天行健</a:t>
              </a:r>
              <a:endParaRPr lang="zh-CN" altLang="en-US" sz="3200" b="1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pSp>
        <p:nvGrpSpPr>
          <p:cNvPr id="10" name="组 25"/>
          <p:cNvGrpSpPr/>
          <p:nvPr/>
        </p:nvGrpSpPr>
        <p:grpSpPr>
          <a:xfrm>
            <a:off x="4666830" y="989427"/>
            <a:ext cx="3312796" cy="5420360"/>
            <a:chOff x="1350851" y="1291546"/>
            <a:chExt cx="2783843" cy="5232401"/>
          </a:xfrm>
        </p:grpSpPr>
        <p:sp>
          <p:nvSpPr>
            <p:cNvPr id="11" name="矩形 10"/>
            <p:cNvSpPr/>
            <p:nvPr/>
          </p:nvSpPr>
          <p:spPr>
            <a:xfrm>
              <a:off x="1350851" y="2347711"/>
              <a:ext cx="2655243" cy="41762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" name="文本框 8"/>
            <p:cNvSpPr txBox="1"/>
            <p:nvPr/>
          </p:nvSpPr>
          <p:spPr>
            <a:xfrm>
              <a:off x="1456185" y="2444818"/>
              <a:ext cx="2397567" cy="70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285750" indent="-285750" defTabSz="914400">
                <a:lnSpc>
                  <a:spcPct val="130000"/>
                </a:lnSpc>
                <a:buFont typeface="Wingdings" panose="05000000000000000000" pitchFamily="2" charset="2"/>
                <a:buChar char="p"/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/>
                  <a:ea typeface="微软雅黑" panose="020B0503020204020204" charset="-122"/>
                </a:defRPr>
              </a:lvl1pPr>
              <a:lvl2pPr marL="457200" defTabSz="914400"/>
              <a:lvl3pPr marL="914400" defTabSz="914400"/>
              <a:lvl4pPr marL="1371600" defTabSz="914400"/>
              <a:lvl5pPr marL="1828800" defTabSz="914400"/>
              <a:lvl6pPr marL="2286000" defTabSz="914400"/>
              <a:lvl7pPr marL="2743200" defTabSz="914400"/>
              <a:lvl8pPr marL="3200400" defTabSz="914400"/>
              <a:lvl9pPr marL="3657600" defTabSz="914400"/>
            </a:lstStyle>
            <a:p>
              <a:pPr marL="0" indent="0">
                <a:buNone/>
              </a:pPr>
              <a:endParaRPr lang="zh-CN" altLang="en-US" sz="1600" b="1" dirty="0">
                <a:solidFill>
                  <a:schemeClr val="tx1"/>
                </a:solidFill>
              </a:endParaRPr>
            </a:p>
            <a:p>
              <a:pPr marL="0" indent="0">
                <a:buNone/>
              </a:pP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五边形 28"/>
            <p:cNvSpPr/>
            <p:nvPr/>
          </p:nvSpPr>
          <p:spPr>
            <a:xfrm>
              <a:off x="1350851" y="1291546"/>
              <a:ext cx="2783843" cy="90292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CN" sz="1865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50851" y="1398208"/>
              <a:ext cx="2576268" cy="5038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Century Gothic" panose="020B0502020202020204"/>
                  <a:ea typeface="微软雅黑" panose="020B0503020204020204" charset="-122"/>
                </a:rPr>
                <a:t>清华大学社会实践</a:t>
              </a:r>
              <a:endParaRPr lang="zh-CN" altLang="en-US" sz="2800" b="1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pSp>
        <p:nvGrpSpPr>
          <p:cNvPr id="19" name="组 30"/>
          <p:cNvGrpSpPr/>
          <p:nvPr/>
        </p:nvGrpSpPr>
        <p:grpSpPr>
          <a:xfrm>
            <a:off x="8452702" y="1027073"/>
            <a:ext cx="3160005" cy="5389491"/>
            <a:chOff x="1350851" y="1291432"/>
            <a:chExt cx="2655450" cy="5389491"/>
          </a:xfrm>
        </p:grpSpPr>
        <p:sp>
          <p:nvSpPr>
            <p:cNvPr id="20" name="矩形 19"/>
            <p:cNvSpPr/>
            <p:nvPr>
              <p:custDataLst>
                <p:tags r:id="rId1"/>
              </p:custDataLst>
            </p:nvPr>
          </p:nvSpPr>
          <p:spPr>
            <a:xfrm>
              <a:off x="1350851" y="2347683"/>
              <a:ext cx="2655244" cy="4333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1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1479689" y="2499264"/>
              <a:ext cx="2397567" cy="2651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285750" indent="-285750" defTabSz="914400">
                <a:lnSpc>
                  <a:spcPct val="130000"/>
                </a:lnSpc>
                <a:buFont typeface="Wingdings" panose="05000000000000000000" pitchFamily="2" charset="2"/>
                <a:buChar char="p"/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/>
                  <a:ea typeface="微软雅黑" panose="020B0503020204020204" charset="-122"/>
                </a:defRPr>
              </a:lvl1pPr>
              <a:lvl2pPr marL="457200" defTabSz="914400"/>
              <a:lvl3pPr marL="914400" defTabSz="914400"/>
              <a:lvl4pPr marL="1371600" defTabSz="914400"/>
              <a:lvl5pPr marL="1828800" defTabSz="914400"/>
              <a:lvl6pPr marL="2286000" defTabSz="914400"/>
              <a:lvl7pPr marL="2743200" defTabSz="914400"/>
              <a:lvl8pPr marL="3200400" defTabSz="914400"/>
              <a:lvl9pPr marL="3657600" defTabSz="914400"/>
            </a:lstStyle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b="1" dirty="0">
                  <a:sym typeface="+mn-ea"/>
                </a:rPr>
                <a:t>在实践地相关单位（如实践地团委）的帮助下投稿地方媒体（</a:t>
              </a:r>
              <a:r>
                <a:rPr lang="zh-CN" altLang="en-US" b="1" dirty="0">
                  <a:sym typeface="+mn-ea"/>
                </a:rPr>
                <a:t>成功率高）；</a:t>
              </a:r>
              <a:endParaRPr lang="zh-CN" altLang="en-US" b="1" dirty="0">
                <a:sym typeface="+mn-ea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b="1" dirty="0">
                <a:sym typeface="+mn-ea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b="1" dirty="0">
                  <a:sym typeface="+mn-ea"/>
                </a:rPr>
                <a:t>优质稿件向人民日报客户端、中国网客户端等媒体渠道</a:t>
              </a:r>
              <a:r>
                <a:rPr lang="zh-CN" altLang="en-US" b="1" dirty="0">
                  <a:sym typeface="+mn-ea"/>
                </a:rPr>
                <a:t>投稿。</a:t>
              </a:r>
              <a:endParaRPr lang="zh-CN" altLang="en-US" b="1" dirty="0">
                <a:sym typeface="+mn-ea"/>
              </a:endParaRPr>
            </a:p>
            <a:p>
              <a:endParaRPr lang="zh-CN" altLang="en-US" b="1" dirty="0">
                <a:sym typeface="+mn-ea"/>
              </a:endParaRPr>
            </a:p>
          </p:txBody>
        </p:sp>
        <p:sp>
          <p:nvSpPr>
            <p:cNvPr id="38" name="五边形 33"/>
            <p:cNvSpPr/>
            <p:nvPr>
              <p:custDataLst>
                <p:tags r:id="rId3"/>
              </p:custDataLst>
            </p:nvPr>
          </p:nvSpPr>
          <p:spPr>
            <a:xfrm>
              <a:off x="1350852" y="1291432"/>
              <a:ext cx="2655449" cy="902811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CN" sz="1865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350851" y="1364068"/>
              <a:ext cx="263176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rgbClr val="FFFFFF"/>
                  </a:solidFill>
                  <a:latin typeface="Century Gothic" panose="020B0502020202020204"/>
                  <a:ea typeface="微软雅黑" panose="020B0503020204020204" charset="-122"/>
                </a:rPr>
                <a:t>其他媒体</a:t>
              </a:r>
              <a:endParaRPr lang="zh-CN" altLang="en-US" sz="3200" b="1" dirty="0">
                <a:solidFill>
                  <a:srgbClr val="FFFFFF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684186" y="2083380"/>
            <a:ext cx="2960857" cy="237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投稿流程</a:t>
            </a:r>
            <a:endParaRPr lang="zh-CN" altLang="en-US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支队内部排版、审核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文稿；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行前推原则上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不投；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latin typeface="Century Gothic" panose="020B0502020202020204"/>
                <a:ea typeface="微软雅黑" panose="020B0503020204020204" charset="-122"/>
                <a:sym typeface="+mn-ea"/>
              </a:rPr>
              <a:t>稿件转存至实践组</a:t>
            </a:r>
            <a:r>
              <a:rPr lang="zh-CN" altLang="en-US" sz="1600" b="1" dirty="0">
                <a:latin typeface="Century Gothic" panose="020B0502020202020204"/>
                <a:ea typeface="微软雅黑" panose="020B0503020204020204" charset="-122"/>
                <a:sym typeface="+mn-ea"/>
              </a:rPr>
              <a:t>邱瀚仪处。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indent="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1600" b="1" dirty="0">
                <a:latin typeface="Century Gothic" panose="020B0502020202020204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600" b="1" dirty="0">
                <a:latin typeface="Century Gothic" panose="020B0502020202020204"/>
                <a:ea typeface="微软雅黑" panose="020B0503020204020204" charset="-122"/>
                <a:sym typeface="+mn-ea"/>
              </a:rPr>
              <a:t>18323897388</a:t>
            </a:r>
            <a:r>
              <a:rPr lang="zh-CN" altLang="en-US" sz="1600" b="1" dirty="0">
                <a:latin typeface="Century Gothic" panose="020B0502020202020204"/>
                <a:ea typeface="微软雅黑" panose="020B0503020204020204" charset="-122"/>
                <a:sym typeface="+mn-ea"/>
              </a:rPr>
              <a:t>）</a:t>
            </a:r>
            <a:endParaRPr lang="zh-CN" altLang="en-US" sz="1600" b="1" dirty="0">
              <a:latin typeface="Century Gothic" panose="020B0502020202020204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90204" pitchFamily="34" charset="0"/>
              <a:buNone/>
            </a:pP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indent="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投稿规范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见群聊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180" y="5189855"/>
            <a:ext cx="2256155" cy="11017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rcRect b="23285"/>
          <a:stretch>
            <a:fillRect/>
          </a:stretch>
        </p:blipFill>
        <p:spPr>
          <a:xfrm>
            <a:off x="9244965" y="4544695"/>
            <a:ext cx="1883410" cy="1313815"/>
          </a:xfrm>
          <a:prstGeom prst="rect">
            <a:avLst/>
          </a:prstGeom>
        </p:spPr>
      </p:pic>
      <p:sp>
        <p:nvSpPr>
          <p:cNvPr id="18" name="文本框 8"/>
          <p:cNvSpPr txBox="1"/>
          <p:nvPr/>
        </p:nvSpPr>
        <p:spPr>
          <a:xfrm>
            <a:off x="9550400" y="5925820"/>
            <a:ext cx="145224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1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德国支队投稿中国网</a:t>
            </a:r>
            <a:endParaRPr lang="zh-CN" altLang="en-US" sz="1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8" grpId="0"/>
      <p:bldP spid="1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227884" y="182033"/>
            <a:ext cx="5044042" cy="529569"/>
          </a:xfrm>
        </p:spPr>
        <p:txBody>
          <a:bodyPr/>
          <a:lstStyle/>
          <a:p>
            <a:r>
              <a:rPr kumimoji="1" lang="zh-CN" altLang="en-US" dirty="0"/>
              <a:t>投稿规范（</a:t>
            </a:r>
            <a:r>
              <a:rPr kumimoji="1" lang="zh-CN" altLang="en-US" dirty="0"/>
              <a:t>部分）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945" y="1058545"/>
            <a:ext cx="5375275" cy="1043305"/>
          </a:xfrm>
          <a:prstGeom prst="rect">
            <a:avLst/>
          </a:prstGeom>
        </p:spPr>
      </p:pic>
      <p:sp>
        <p:nvSpPr>
          <p:cNvPr id="60" name="文本框 8"/>
          <p:cNvSpPr txBox="1"/>
          <p:nvPr/>
        </p:nvSpPr>
        <p:spPr>
          <a:xfrm>
            <a:off x="8027035" y="1415415"/>
            <a:ext cx="30372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标题：</a:t>
            </a:r>
            <a:r>
              <a:rPr lang="en-US" altLang="zh-CN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…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丨</a:t>
            </a:r>
            <a:r>
              <a:rPr lang="en-US" altLang="zh-CN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……</a:t>
            </a:r>
            <a:endParaRPr lang="en-US" altLang="zh-CN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101850"/>
            <a:ext cx="4748530" cy="2178685"/>
          </a:xfrm>
          <a:prstGeom prst="rect">
            <a:avLst/>
          </a:prstGeom>
        </p:spPr>
      </p:pic>
      <p:sp>
        <p:nvSpPr>
          <p:cNvPr id="23" name="文本框 8"/>
          <p:cNvSpPr txBox="1"/>
          <p:nvPr/>
        </p:nvSpPr>
        <p:spPr>
          <a:xfrm>
            <a:off x="8027035" y="2545080"/>
            <a:ext cx="380365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同一支队推送模板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尽量统一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开头先进行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支队介绍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610" y="4492625"/>
            <a:ext cx="4058920" cy="1939925"/>
          </a:xfrm>
          <a:prstGeom prst="rect">
            <a:avLst/>
          </a:prstGeom>
        </p:spPr>
      </p:pic>
      <p:sp>
        <p:nvSpPr>
          <p:cNvPr id="25" name="文本框 8"/>
          <p:cNvSpPr txBox="1"/>
          <p:nvPr/>
        </p:nvSpPr>
        <p:spPr>
          <a:xfrm>
            <a:off x="7802245" y="4567555"/>
            <a:ext cx="425386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注意字号（建议</a:t>
            </a:r>
            <a:r>
              <a:rPr lang="en-US" altLang="zh-CN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14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）、边距、间距、图片宽度（建议</a:t>
            </a:r>
            <a:r>
              <a:rPr lang="en-US" altLang="zh-CN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80%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）</a:t>
            </a: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等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Century Gothic" panose="020B0502020202020204"/>
                <a:ea typeface="微软雅黑" panose="020B0503020204020204" charset="-122"/>
              </a:rPr>
              <a:t>所有内容一定要经由接待方审核</a:t>
            </a:r>
            <a:endParaRPr lang="zh-CN" altLang="en-US" sz="2000" b="1" dirty="0">
              <a:solidFill>
                <a:srgbClr val="FF0000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0" grpId="1"/>
      <p:bldP spid="23" grpId="0"/>
      <p:bldP spid="23" grpId="1"/>
      <p:bldP spid="25" grpId="0"/>
      <p:bldP spid="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227884" y="182033"/>
            <a:ext cx="5044042" cy="529569"/>
          </a:xfrm>
        </p:spPr>
        <p:txBody>
          <a:bodyPr/>
          <a:lstStyle/>
          <a:p>
            <a:r>
              <a:rPr kumimoji="1" lang="zh-CN" altLang="en-US" dirty="0"/>
              <a:t>新媒体宣传</a:t>
            </a:r>
            <a:r>
              <a:rPr kumimoji="1" lang="zh-CN" altLang="en-US" dirty="0"/>
              <a:t>平台</a:t>
            </a:r>
            <a:endParaRPr kumimoji="1"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1395730" y="1256665"/>
            <a:ext cx="4704080" cy="2620010"/>
            <a:chOff x="2198" y="1979"/>
            <a:chExt cx="7408" cy="412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98" y="1979"/>
              <a:ext cx="7409" cy="4127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2485" y="2069"/>
              <a:ext cx="1684" cy="6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8"/>
          <p:cNvSpPr txBox="1"/>
          <p:nvPr/>
        </p:nvSpPr>
        <p:spPr>
          <a:xfrm>
            <a:off x="1577975" y="3877310"/>
            <a:ext cx="404177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“紫荆之声”校园新媒体联创计划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indent="0" algn="ctr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我发选题 你来创作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25" name="文本框 8"/>
          <p:cNvSpPr txBox="1"/>
          <p:nvPr/>
        </p:nvSpPr>
        <p:spPr>
          <a:xfrm>
            <a:off x="1847215" y="4890770"/>
            <a:ext cx="4108450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同学根据发布的选题进行创作；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indent="0" algn="l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    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（行读中国，博览世界，假期趣闻</a:t>
            </a:r>
            <a:r>
              <a:rPr lang="en-US" altLang="zh-CN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……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）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全网</a:t>
            </a:r>
            <a:r>
              <a:rPr lang="en-US" altLang="zh-CN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8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大平台</a:t>
            </a:r>
            <a:r>
              <a:rPr lang="en-US" altLang="zh-CN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1600W+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播放量；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在社会实践中开展</a:t>
            </a:r>
            <a:r>
              <a:rPr lang="zh-CN" altLang="en-US" sz="16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创作</a:t>
            </a:r>
            <a:endParaRPr lang="zh-CN" altLang="en-US" sz="16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65" y="711835"/>
            <a:ext cx="3225339" cy="18000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240" y="2512060"/>
            <a:ext cx="3222122" cy="1800000"/>
          </a:xfrm>
          <a:prstGeom prst="rect">
            <a:avLst/>
          </a:prstGeom>
        </p:spPr>
      </p:pic>
      <p:sp>
        <p:nvSpPr>
          <p:cNvPr id="60" name="文本框 8"/>
          <p:cNvSpPr txBox="1"/>
          <p:nvPr/>
        </p:nvSpPr>
        <p:spPr>
          <a:xfrm>
            <a:off x="10632440" y="1406525"/>
            <a:ext cx="147637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门槛低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激励大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Century Gothic" panose="020B0502020202020204"/>
                <a:ea typeface="微软雅黑" panose="020B0503020204020204" charset="-122"/>
              </a:rPr>
              <a:t>上手快</a:t>
            </a:r>
            <a:endParaRPr lang="zh-CN" altLang="en-US" sz="2000" b="1" dirty="0">
              <a:solidFill>
                <a:schemeClr val="tx1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12570" y="939165"/>
            <a:ext cx="787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如何使用秀米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【新手小白如何用秀米编辑出美观的微信公众号推文】</a:t>
            </a:r>
            <a:r>
              <a:rPr lang="en-US" altLang="zh-CN"/>
              <a:t> https://www.bilibili.com/video/BV1Ti4y1c7bj/?share_source=copy_web&amp;vd_source=0841866ae5669a484e9c92c4592ed3a0</a:t>
            </a:r>
            <a:endParaRPr lang="en-US" altLang="zh-CN"/>
          </a:p>
          <a:p>
            <a:r>
              <a:rPr lang="zh-CN" altLang="en-US"/>
              <a:t>【拜托三连了！这绝对是全</a:t>
            </a:r>
            <a:r>
              <a:rPr lang="en-US" altLang="zh-CN"/>
              <a:t>B</a:t>
            </a:r>
            <a:r>
              <a:rPr lang="zh-CN" altLang="en-US"/>
              <a:t>站最用心（没有之一）的手机剪辑公开课程，必剪包教包会！】</a:t>
            </a:r>
            <a:r>
              <a:rPr lang="en-US" altLang="zh-CN"/>
              <a:t> https://www.bilibili.com/video/BV1CU4y1774a/?share_source=copy_web&amp;vd_source=0841866ae5669a484e9c92c4592ed3a0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512570" y="3828415"/>
            <a:ext cx="79095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如何剪辑视频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【【零基础新手</a:t>
            </a:r>
            <a:r>
              <a:rPr lang="en-US" altLang="zh-CN"/>
              <a:t>VLOG</a:t>
            </a:r>
            <a:r>
              <a:rPr lang="zh-CN" altLang="en-US"/>
              <a:t>指南</a:t>
            </a:r>
            <a:r>
              <a:rPr lang="en-US" altLang="zh-CN"/>
              <a:t>06-</a:t>
            </a:r>
            <a:r>
              <a:rPr lang="zh-CN" altLang="en-US"/>
              <a:t>剪辑思路篇】手把手教你用剪映</a:t>
            </a:r>
            <a:r>
              <a:rPr lang="en-US" altLang="zh-CN"/>
              <a:t>APP</a:t>
            </a:r>
            <a:r>
              <a:rPr lang="zh-CN" altLang="en-US"/>
              <a:t>剪个文艺片，剪辑思路和技巧一并分享】</a:t>
            </a:r>
            <a:r>
              <a:rPr lang="en-US" altLang="zh-CN"/>
              <a:t> https://www.bilibili.com/video/BV1qJ411j7Z1/?share_source=copy_web&amp;vd_source=0841866ae5669a484e9c92c4592ed3a0</a:t>
            </a:r>
            <a:endParaRPr lang="en-US" altLang="zh-CN"/>
          </a:p>
          <a:p>
            <a:r>
              <a:rPr lang="zh-CN" altLang="en-US"/>
              <a:t>【拜托三连了！这绝对是全</a:t>
            </a:r>
            <a:r>
              <a:rPr lang="en-US" altLang="zh-CN"/>
              <a:t>B</a:t>
            </a:r>
            <a:r>
              <a:rPr lang="zh-CN" altLang="en-US"/>
              <a:t>站最用心（没有之一）的手机剪辑公开课程，必剪包教包会！】</a:t>
            </a:r>
            <a:r>
              <a:rPr lang="en-US" altLang="zh-CN"/>
              <a:t> https://www.bilibili.com/video/BV1CU4y1774a/?share_source=copy_web&amp;vd_source=0841866ae5669a484e9c92c4592ed3a0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0993afa7-9582-483b-a159-bb4765a37ed2"/>
  <p:tag name="COMMONDATA" val="eyJoZGlkIjoiZjBmZjk0YTMxMmJiNzY4NDBlNjhiYmU0MTRlYWRiZjQifQ=="/>
  <p:tag name="commondata" val="eyJoZGlkIjoiODQwMjVmNjg5MDBhMWViMjAyNGE3NGFlOTNkMjhkZWUifQ=="/>
  <p:tag name="resource_record_key" val="{&quot;13&quot;:[20482077]}"/>
</p:tagLst>
</file>

<file path=ppt/theme/theme1.xml><?xml version="1.0" encoding="utf-8"?>
<a:theme xmlns:a="http://schemas.openxmlformats.org/drawingml/2006/main" name="清风素材 https://12sc.taobao.com/">
  <a:themeElements>
    <a:clrScheme name="自定义 6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0092E8"/>
      </a:accent1>
      <a:accent2>
        <a:srgbClr val="FFC100"/>
      </a:accent2>
      <a:accent3>
        <a:srgbClr val="FF5100"/>
      </a:accent3>
      <a:accent4>
        <a:srgbClr val="515151"/>
      </a:accent4>
      <a:accent5>
        <a:srgbClr val="919191"/>
      </a:accent5>
      <a:accent6>
        <a:srgbClr val="CACACA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1298</Words>
  <Application>WPS 文字</Application>
  <PresentationFormat>宽屏</PresentationFormat>
  <Paragraphs>119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Century Gothic</vt:lpstr>
      <vt:lpstr>苹方-简</vt:lpstr>
      <vt:lpstr>宋体</vt:lpstr>
      <vt:lpstr>Arial Unicode MS</vt:lpstr>
      <vt:lpstr>等线</vt:lpstr>
      <vt:lpstr>汉仪中等线KW</vt:lpstr>
      <vt:lpstr>汉仪书宋二KW</vt:lpstr>
      <vt:lpstr>Calibri</vt:lpstr>
      <vt:lpstr>Helvetica Neue</vt:lpstr>
      <vt:lpstr>Century Gothic</vt:lpstr>
      <vt:lpstr>Wingdings</vt:lpstr>
      <vt:lpstr>微软雅黑</vt:lpstr>
      <vt:lpstr>清风素材 https://12sc.taobao.com/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清风素材</dc:creator>
  <cp:keywords>12sc.taobao.com</cp:keywords>
  <dc:description>12sc.taobao.com</dc:description>
  <dc:subject>12sc.taobao.com</dc:subject>
  <cp:category>12sc.taobao.com</cp:category>
  <cp:lastModifiedBy>邱哈尼</cp:lastModifiedBy>
  <cp:revision>214</cp:revision>
  <dcterms:created xsi:type="dcterms:W3CDTF">2025-06-18T08:49:47Z</dcterms:created>
  <dcterms:modified xsi:type="dcterms:W3CDTF">2025-06-18T08:49:47Z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D39046102DA55E8FAA7D5268241E79C0_43</vt:lpwstr>
  </property>
  <property fmtid="{D5CDD505-2E9C-101B-9397-08002B2CF9AE}" pid="3" name="KSOProductBuildVer">
    <vt:lpwstr>2052-7.2.2.8955</vt:lpwstr>
  </property>
</Properties>
</file>